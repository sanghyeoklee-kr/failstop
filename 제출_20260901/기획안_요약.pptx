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2개 가용영역이 상시 서비스면입니다. 왼쪽 아래 번호가 요청 흐름이고, 오른쪽 온프레미스 IDC 가 증명면입니다. 관리형 경로에서는 커널에 손을 댈 수 없어서 장애 주입은 전부 IDC 쪽에서 합니다. 붉은 점선 박스가 주입 지점이고 실험 창에만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상시 서비스와 파괴 실험이 한 평면에서는 양립하지 않습니다. 그래서 평면을 나눴습니다. 관리형 DB를 쓰지 않은 것도 같은 이유입니다. 주입 권한이 없으면 증명 자체가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UPDATE를 시도했을 때 P0001로 막히는 것을 캡처로 남깁니다. 비용은 결과가 아니라 설계 변수로 다뤘습니다. 상한을 먼저 정하고 그 안에 들어오는 토폴로지를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9종이 이미 배선돼 있고 라이브 통과가 5건입니다. 다만 지금까지의 네트워크 실험은 프록시 레벨 모사이지 커널 주입이 아닙니다. 그래서 tc netem으로 실제 커널에 지연과 손실을 넣는 E10을 새로 추가합니다. 판정은 주입 전후로 권위 검증을 한 번씩 돌려 대조하는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53일, 순 가용 336시간입니다.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26개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arch_aws_slide.png">    </p:cNvPr>
          <p:cNvPicPr>
            <a:picLocks noChangeAspect="1"/>
          </p:cNvPicPr>
          <p:nvPr/>
        </p:nvPicPr>
        <p:blipFill>
          <a:blip r:embed="rId1"/>
          <a:stretch>
            <a:fillRect/>
          </a:stretch>
        </p:blipFill>
        <p:spPr>
          <a:xfrm>
            <a:off x="310896" y="1426464"/>
            <a:ext cx="11576304"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66페이지</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edge · nginx TLS · nftables</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core · app · PostgreSQL · 관측</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실험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app-2  ·  pg-standby  ·  obs  ·  load   =  65시간 · 20,530원</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커널 주입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Rocky 10은 iptables 제거. nftables · SELinux enforcing</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세션으로만 접속</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4종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11</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계획값 92,425원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6주 총계 139,854원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1~4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3291840"/>
                <a:gridCol w="35661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6주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상시면 EC2 · EBS · IP</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95,827원</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24시간 구동</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증명면 65시간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20,530원</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창 구동 후 파기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 정적 · 아웃바운드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6,864원</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CloudFront 프리티어</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139,854원</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월 환산 92,425원</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지금까지의 네트워크 실험은 전부 프록시 모사이고 커널 주입이 아니다</a:t>
            </a:r>
            <a:endParaRPr lang="en-US" sz="1450" dirty="0"/>
          </a:p>
        </p:txBody>
      </p:sp>
      <p:sp>
        <p:nvSpPr>
          <p:cNvPr id="5" name="Shape 3"/>
          <p:cNvSpPr/>
          <p:nvPr/>
        </p:nvSpPr>
        <p:spPr>
          <a:xfrm>
            <a:off x="566928" y="1627632"/>
            <a:ext cx="2065264" cy="841248"/>
          </a:xfrm>
          <a:prstGeom prst="roundRect">
            <a:avLst>
              <a:gd name="adj" fmla="val 5435"/>
            </a:avLst>
          </a:prstGeom>
          <a:solidFill>
            <a:srgbClr val="E4EDE8"/>
          </a:solidFill>
          <a:ln w="9525">
            <a:solidFill>
              <a:srgbClr val="D8DEE2"/>
            </a:solidFill>
            <a:prstDash val="solid"/>
          </a:ln>
        </p:spPr>
      </p:sp>
      <p:sp>
        <p:nvSpPr>
          <p:cNvPr id="6" name="Text 4"/>
          <p:cNvSpPr/>
          <p:nvPr/>
        </p:nvSpPr>
        <p:spPr>
          <a:xfrm>
            <a:off x="694944" y="1700784"/>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E1</a:t>
            </a:r>
            <a:endParaRPr lang="en-US" sz="1300" dirty="0"/>
          </a:p>
        </p:txBody>
      </p:sp>
      <p:sp>
        <p:nvSpPr>
          <p:cNvPr id="7" name="Text 5"/>
          <p:cNvSpPr/>
          <p:nvPr/>
        </p:nvSpPr>
        <p:spPr>
          <a:xfrm>
            <a:off x="694944" y="1956816"/>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PG 지연</a:t>
            </a:r>
            <a:endParaRPr lang="en-US" sz="1000" dirty="0"/>
          </a:p>
        </p:txBody>
      </p:sp>
      <p:sp>
        <p:nvSpPr>
          <p:cNvPr id="8" name="Text 6"/>
          <p:cNvSpPr/>
          <p:nvPr/>
        </p:nvSpPr>
        <p:spPr>
          <a:xfrm>
            <a:off x="694944" y="2176272"/>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9" name="Shape 7"/>
          <p:cNvSpPr/>
          <p:nvPr/>
        </p:nvSpPr>
        <p:spPr>
          <a:xfrm>
            <a:off x="2778496" y="1627632"/>
            <a:ext cx="2065264" cy="841248"/>
          </a:xfrm>
          <a:prstGeom prst="roundRect">
            <a:avLst>
              <a:gd name="adj" fmla="val 5435"/>
            </a:avLst>
          </a:prstGeom>
          <a:solidFill>
            <a:srgbClr val="E4EDE8"/>
          </a:solidFill>
          <a:ln w="9525">
            <a:solidFill>
              <a:srgbClr val="D8DEE2"/>
            </a:solidFill>
            <a:prstDash val="solid"/>
          </a:ln>
        </p:spPr>
      </p:sp>
      <p:sp>
        <p:nvSpPr>
          <p:cNvPr id="10" name="Text 8"/>
          <p:cNvSpPr/>
          <p:nvPr/>
        </p:nvSpPr>
        <p:spPr>
          <a:xfrm>
            <a:off x="2906512" y="1700784"/>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E2</a:t>
            </a:r>
            <a:endParaRPr lang="en-US" sz="1300" dirty="0"/>
          </a:p>
        </p:txBody>
      </p:sp>
      <p:sp>
        <p:nvSpPr>
          <p:cNvPr id="11" name="Text 9"/>
          <p:cNvSpPr/>
          <p:nvPr/>
        </p:nvSpPr>
        <p:spPr>
          <a:xfrm>
            <a:off x="2906512" y="1956816"/>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DB 단절</a:t>
            </a:r>
            <a:endParaRPr lang="en-US" sz="1000" dirty="0"/>
          </a:p>
        </p:txBody>
      </p:sp>
      <p:sp>
        <p:nvSpPr>
          <p:cNvPr id="12" name="Text 10"/>
          <p:cNvSpPr/>
          <p:nvPr/>
        </p:nvSpPr>
        <p:spPr>
          <a:xfrm>
            <a:off x="2906512" y="2176272"/>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13" name="Shape 11"/>
          <p:cNvSpPr/>
          <p:nvPr/>
        </p:nvSpPr>
        <p:spPr>
          <a:xfrm>
            <a:off x="4990064" y="1627632"/>
            <a:ext cx="2065264" cy="841248"/>
          </a:xfrm>
          <a:prstGeom prst="roundRect">
            <a:avLst>
              <a:gd name="adj" fmla="val 5435"/>
            </a:avLst>
          </a:prstGeom>
          <a:solidFill>
            <a:srgbClr val="F2F5F6"/>
          </a:solidFill>
          <a:ln w="9525">
            <a:solidFill>
              <a:srgbClr val="D8DEE2"/>
            </a:solidFill>
            <a:prstDash val="solid"/>
          </a:ln>
        </p:spPr>
      </p:sp>
      <p:sp>
        <p:nvSpPr>
          <p:cNvPr id="14" name="Text 12"/>
          <p:cNvSpPr/>
          <p:nvPr/>
        </p:nvSpPr>
        <p:spPr>
          <a:xfrm>
            <a:off x="5118080" y="1700784"/>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E3</a:t>
            </a:r>
            <a:endParaRPr lang="en-US" sz="1300" dirty="0"/>
          </a:p>
        </p:txBody>
      </p:sp>
      <p:sp>
        <p:nvSpPr>
          <p:cNvPr id="15" name="Text 13"/>
          <p:cNvSpPr/>
          <p:nvPr/>
        </p:nvSpPr>
        <p:spPr>
          <a:xfrm>
            <a:off x="5118080" y="1956816"/>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 장애</a:t>
            </a:r>
            <a:endParaRPr lang="en-US" sz="1000" dirty="0"/>
          </a:p>
        </p:txBody>
      </p:sp>
      <p:sp>
        <p:nvSpPr>
          <p:cNvPr id="16" name="Text 14"/>
          <p:cNvSpPr/>
          <p:nvPr/>
        </p:nvSpPr>
        <p:spPr>
          <a:xfrm>
            <a:off x="5118080" y="2176272"/>
            <a:ext cx="1809232" cy="237744"/>
          </a:xfrm>
          <a:prstGeom prst="rect">
            <a:avLst/>
          </a:prstGeom>
          <a:noFill/>
          <a:ln/>
        </p:spPr>
        <p:txBody>
          <a:bodyPr wrap="square" lIns="0" tIns="0" rIns="0" bIns="0" rtlCol="0" anchor="ct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SKIP 유효</a:t>
            </a:r>
            <a:endParaRPr lang="en-US" sz="1000" dirty="0"/>
          </a:p>
        </p:txBody>
      </p:sp>
      <p:sp>
        <p:nvSpPr>
          <p:cNvPr id="17" name="Shape 15"/>
          <p:cNvSpPr/>
          <p:nvPr/>
        </p:nvSpPr>
        <p:spPr>
          <a:xfrm>
            <a:off x="7201632" y="1627632"/>
            <a:ext cx="2065264" cy="841248"/>
          </a:xfrm>
          <a:prstGeom prst="roundRect">
            <a:avLst>
              <a:gd name="adj" fmla="val 5435"/>
            </a:avLst>
          </a:prstGeom>
          <a:solidFill>
            <a:srgbClr val="F2F5F6"/>
          </a:solidFill>
          <a:ln w="9525">
            <a:solidFill>
              <a:srgbClr val="D8DEE2"/>
            </a:solidFill>
            <a:prstDash val="solid"/>
          </a:ln>
        </p:spPr>
      </p:sp>
      <p:sp>
        <p:nvSpPr>
          <p:cNvPr id="18" name="Text 16"/>
          <p:cNvSpPr/>
          <p:nvPr/>
        </p:nvSpPr>
        <p:spPr>
          <a:xfrm>
            <a:off x="7329648" y="1700784"/>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E4</a:t>
            </a:r>
            <a:endParaRPr lang="en-US" sz="1300" dirty="0"/>
          </a:p>
        </p:txBody>
      </p:sp>
      <p:sp>
        <p:nvSpPr>
          <p:cNvPr id="19" name="Text 17"/>
          <p:cNvSpPr/>
          <p:nvPr/>
        </p:nvSpPr>
        <p:spPr>
          <a:xfrm>
            <a:off x="7329648" y="1956816"/>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리더 kill</a:t>
            </a:r>
            <a:endParaRPr lang="en-US" sz="1000" dirty="0"/>
          </a:p>
        </p:txBody>
      </p:sp>
      <p:sp>
        <p:nvSpPr>
          <p:cNvPr id="20" name="Text 18"/>
          <p:cNvSpPr/>
          <p:nvPr/>
        </p:nvSpPr>
        <p:spPr>
          <a:xfrm>
            <a:off x="7329648" y="2176272"/>
            <a:ext cx="1809232" cy="237744"/>
          </a:xfrm>
          <a:prstGeom prst="rect">
            <a:avLst/>
          </a:prstGeom>
          <a:noFill/>
          <a:ln/>
        </p:spPr>
        <p:txBody>
          <a:bodyPr wrap="square" lIns="0" tIns="0" rIns="0" bIns="0" rtlCol="0" anchor="ct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재측정</a:t>
            </a:r>
            <a:endParaRPr lang="en-US" sz="1000" dirty="0"/>
          </a:p>
        </p:txBody>
      </p:sp>
      <p:sp>
        <p:nvSpPr>
          <p:cNvPr id="21" name="Shape 19"/>
          <p:cNvSpPr/>
          <p:nvPr/>
        </p:nvSpPr>
        <p:spPr>
          <a:xfrm>
            <a:off x="9413199" y="1627632"/>
            <a:ext cx="2065264" cy="841248"/>
          </a:xfrm>
          <a:prstGeom prst="roundRect">
            <a:avLst>
              <a:gd name="adj" fmla="val 5435"/>
            </a:avLst>
          </a:prstGeom>
          <a:solidFill>
            <a:srgbClr val="E4EDE8"/>
          </a:solidFill>
          <a:ln w="9525">
            <a:solidFill>
              <a:srgbClr val="D8DEE2"/>
            </a:solidFill>
            <a:prstDash val="solid"/>
          </a:ln>
        </p:spPr>
      </p:sp>
      <p:sp>
        <p:nvSpPr>
          <p:cNvPr id="22" name="Text 20"/>
          <p:cNvSpPr/>
          <p:nvPr/>
        </p:nvSpPr>
        <p:spPr>
          <a:xfrm>
            <a:off x="9541215" y="1700784"/>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E5</a:t>
            </a:r>
            <a:endParaRPr lang="en-US" sz="1300" dirty="0"/>
          </a:p>
        </p:txBody>
      </p:sp>
      <p:sp>
        <p:nvSpPr>
          <p:cNvPr id="23" name="Text 21"/>
          <p:cNvSpPr/>
          <p:nvPr/>
        </p:nvSpPr>
        <p:spPr>
          <a:xfrm>
            <a:off x="9541215" y="1956816"/>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네트워크 분단</a:t>
            </a:r>
            <a:endParaRPr lang="en-US" sz="1000" dirty="0"/>
          </a:p>
        </p:txBody>
      </p:sp>
      <p:sp>
        <p:nvSpPr>
          <p:cNvPr id="24" name="Text 22"/>
          <p:cNvSpPr/>
          <p:nvPr/>
        </p:nvSpPr>
        <p:spPr>
          <a:xfrm>
            <a:off x="9541215" y="2176272"/>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25" name="Shape 23"/>
          <p:cNvSpPr/>
          <p:nvPr/>
        </p:nvSpPr>
        <p:spPr>
          <a:xfrm>
            <a:off x="566928" y="2651760"/>
            <a:ext cx="2065264" cy="841248"/>
          </a:xfrm>
          <a:prstGeom prst="roundRect">
            <a:avLst>
              <a:gd name="adj" fmla="val 5435"/>
            </a:avLst>
          </a:prstGeom>
          <a:solidFill>
            <a:srgbClr val="E4EDE8"/>
          </a:solidFill>
          <a:ln w="9525">
            <a:solidFill>
              <a:srgbClr val="D8DEE2"/>
            </a:solidFill>
            <a:prstDash val="solid"/>
          </a:ln>
        </p:spPr>
      </p:sp>
      <p:sp>
        <p:nvSpPr>
          <p:cNvPr id="26" name="Text 24"/>
          <p:cNvSpPr/>
          <p:nvPr/>
        </p:nvSpPr>
        <p:spPr>
          <a:xfrm>
            <a:off x="694944" y="2724912"/>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E6</a:t>
            </a:r>
            <a:endParaRPr lang="en-US" sz="1300" dirty="0"/>
          </a:p>
        </p:txBody>
      </p:sp>
      <p:sp>
        <p:nvSpPr>
          <p:cNvPr id="27" name="Text 25"/>
          <p:cNvSpPr/>
          <p:nvPr/>
        </p:nvSpPr>
        <p:spPr>
          <a:xfrm>
            <a:off x="694944" y="2980944"/>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폭주+kill</a:t>
            </a:r>
            <a:endParaRPr lang="en-US" sz="1000" dirty="0"/>
          </a:p>
        </p:txBody>
      </p:sp>
      <p:sp>
        <p:nvSpPr>
          <p:cNvPr id="28" name="Text 26"/>
          <p:cNvSpPr/>
          <p:nvPr/>
        </p:nvSpPr>
        <p:spPr>
          <a:xfrm>
            <a:off x="694944" y="3200400"/>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29" name="Shape 27"/>
          <p:cNvSpPr/>
          <p:nvPr/>
        </p:nvSpPr>
        <p:spPr>
          <a:xfrm>
            <a:off x="2778496" y="2651760"/>
            <a:ext cx="2065264" cy="841248"/>
          </a:xfrm>
          <a:prstGeom prst="roundRect">
            <a:avLst>
              <a:gd name="adj" fmla="val 5435"/>
            </a:avLst>
          </a:prstGeom>
          <a:solidFill>
            <a:srgbClr val="E4EDE8"/>
          </a:solidFill>
          <a:ln w="9525">
            <a:solidFill>
              <a:srgbClr val="D8DEE2"/>
            </a:solidFill>
            <a:prstDash val="solid"/>
          </a:ln>
        </p:spPr>
      </p:sp>
      <p:sp>
        <p:nvSpPr>
          <p:cNvPr id="30" name="Text 28"/>
          <p:cNvSpPr/>
          <p:nvPr/>
        </p:nvSpPr>
        <p:spPr>
          <a:xfrm>
            <a:off x="2906512" y="2724912"/>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E7</a:t>
            </a:r>
            <a:endParaRPr lang="en-US" sz="1300" dirty="0"/>
          </a:p>
        </p:txBody>
      </p:sp>
      <p:sp>
        <p:nvSpPr>
          <p:cNvPr id="31" name="Text 29"/>
          <p:cNvSpPr/>
          <p:nvPr/>
        </p:nvSpPr>
        <p:spPr>
          <a:xfrm>
            <a:off x="2906512" y="2980944"/>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그레이 장애</a:t>
            </a:r>
            <a:endParaRPr lang="en-US" sz="1000" dirty="0"/>
          </a:p>
        </p:txBody>
      </p:sp>
      <p:sp>
        <p:nvSpPr>
          <p:cNvPr id="32" name="Text 30"/>
          <p:cNvSpPr/>
          <p:nvPr/>
        </p:nvSpPr>
        <p:spPr>
          <a:xfrm>
            <a:off x="2906512" y="3200400"/>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33" name="Shape 31"/>
          <p:cNvSpPr/>
          <p:nvPr/>
        </p:nvSpPr>
        <p:spPr>
          <a:xfrm>
            <a:off x="4990064" y="2651760"/>
            <a:ext cx="2065264" cy="841248"/>
          </a:xfrm>
          <a:prstGeom prst="roundRect">
            <a:avLst>
              <a:gd name="adj" fmla="val 5435"/>
            </a:avLst>
          </a:prstGeom>
          <a:solidFill>
            <a:srgbClr val="F2F5F6"/>
          </a:solidFill>
          <a:ln w="9525">
            <a:solidFill>
              <a:srgbClr val="D8DEE2"/>
            </a:solidFill>
            <a:prstDash val="solid"/>
          </a:ln>
        </p:spPr>
      </p:sp>
      <p:sp>
        <p:nvSpPr>
          <p:cNvPr id="34" name="Text 32"/>
          <p:cNvSpPr/>
          <p:nvPr/>
        </p:nvSpPr>
        <p:spPr>
          <a:xfrm>
            <a:off x="5118080" y="2724912"/>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E8</a:t>
            </a:r>
            <a:endParaRPr lang="en-US" sz="1300" dirty="0"/>
          </a:p>
        </p:txBody>
      </p:sp>
      <p:sp>
        <p:nvSpPr>
          <p:cNvPr id="35" name="Text 33"/>
          <p:cNvSpPr/>
          <p:nvPr/>
        </p:nvSpPr>
        <p:spPr>
          <a:xfrm>
            <a:off x="5118080" y="2980944"/>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assault</a:t>
            </a:r>
            <a:endParaRPr lang="en-US" sz="1000" dirty="0"/>
          </a:p>
        </p:txBody>
      </p:sp>
      <p:sp>
        <p:nvSpPr>
          <p:cNvPr id="36" name="Text 34"/>
          <p:cNvSpPr/>
          <p:nvPr/>
        </p:nvSpPr>
        <p:spPr>
          <a:xfrm>
            <a:off x="5118080" y="3200400"/>
            <a:ext cx="1809232" cy="237744"/>
          </a:xfrm>
          <a:prstGeom prst="rect">
            <a:avLst/>
          </a:prstGeom>
          <a:noFill/>
          <a:ln/>
        </p:spPr>
        <p:txBody>
          <a:bodyPr wrap="square" lIns="0" tIns="0" rIns="0" bIns="0" rtlCol="0" anchor="ct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배선</a:t>
            </a:r>
            <a:endParaRPr lang="en-US" sz="1000" dirty="0"/>
          </a:p>
        </p:txBody>
      </p:sp>
      <p:sp>
        <p:nvSpPr>
          <p:cNvPr id="37" name="Shape 35"/>
          <p:cNvSpPr/>
          <p:nvPr/>
        </p:nvSpPr>
        <p:spPr>
          <a:xfrm>
            <a:off x="7201632" y="2651760"/>
            <a:ext cx="2065264" cy="841248"/>
          </a:xfrm>
          <a:prstGeom prst="roundRect">
            <a:avLst>
              <a:gd name="adj" fmla="val 5435"/>
            </a:avLst>
          </a:prstGeom>
          <a:solidFill>
            <a:srgbClr val="E4EDE8"/>
          </a:solidFill>
          <a:ln w="9525">
            <a:solidFill>
              <a:srgbClr val="D8DEE2"/>
            </a:solidFill>
            <a:prstDash val="solid"/>
          </a:ln>
        </p:spPr>
      </p:sp>
      <p:sp>
        <p:nvSpPr>
          <p:cNvPr id="38" name="Text 36"/>
          <p:cNvSpPr/>
          <p:nvPr/>
        </p:nvSpPr>
        <p:spPr>
          <a:xfrm>
            <a:off x="7329648" y="2724912"/>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E9</a:t>
            </a:r>
            <a:endParaRPr lang="en-US" sz="1300" dirty="0"/>
          </a:p>
        </p:txBody>
      </p:sp>
      <p:sp>
        <p:nvSpPr>
          <p:cNvPr id="39" name="Text 37"/>
          <p:cNvSpPr/>
          <p:nvPr/>
        </p:nvSpPr>
        <p:spPr>
          <a:xfrm>
            <a:off x="7329648" y="2980944"/>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커밋 단절</a:t>
            </a:r>
            <a:endParaRPr lang="en-US" sz="1000" dirty="0"/>
          </a:p>
        </p:txBody>
      </p:sp>
      <p:sp>
        <p:nvSpPr>
          <p:cNvPr id="40" name="Text 38"/>
          <p:cNvSpPr/>
          <p:nvPr/>
        </p:nvSpPr>
        <p:spPr>
          <a:xfrm>
            <a:off x="7329648" y="3200400"/>
            <a:ext cx="1809232" cy="237744"/>
          </a:xfrm>
          <a:prstGeom prst="rect">
            <a:avLst/>
          </a:prstGeom>
          <a:noFill/>
          <a:ln/>
        </p:spPr>
        <p:txBody>
          <a:bodyPr wrap="square" lIns="0" tIns="0" rIns="0" bIns="0" rtlCol="0" anchor="ct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a:t>
            </a:r>
            <a:endParaRPr lang="en-US" sz="1000" dirty="0"/>
          </a:p>
        </p:txBody>
      </p:sp>
      <p:sp>
        <p:nvSpPr>
          <p:cNvPr id="41" name="Shape 39"/>
          <p:cNvSpPr/>
          <p:nvPr/>
        </p:nvSpPr>
        <p:spPr>
          <a:xfrm>
            <a:off x="9413199" y="2651760"/>
            <a:ext cx="2065264" cy="841248"/>
          </a:xfrm>
          <a:prstGeom prst="roundRect">
            <a:avLst>
              <a:gd name="adj" fmla="val 5435"/>
            </a:avLst>
          </a:prstGeom>
          <a:solidFill>
            <a:srgbClr val="F6E9E7"/>
          </a:solidFill>
          <a:ln w="9525">
            <a:solidFill>
              <a:srgbClr val="D8DEE2"/>
            </a:solidFill>
            <a:prstDash val="solid"/>
          </a:ln>
        </p:spPr>
      </p:sp>
      <p:sp>
        <p:nvSpPr>
          <p:cNvPr id="42" name="Text 40"/>
          <p:cNvSpPr/>
          <p:nvPr/>
        </p:nvSpPr>
        <p:spPr>
          <a:xfrm>
            <a:off x="9541215" y="2724912"/>
            <a:ext cx="1809232" cy="256032"/>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E10</a:t>
            </a:r>
            <a:endParaRPr lang="en-US" sz="1300" dirty="0"/>
          </a:p>
        </p:txBody>
      </p:sp>
      <p:sp>
        <p:nvSpPr>
          <p:cNvPr id="43" name="Text 41"/>
          <p:cNvSpPr/>
          <p:nvPr/>
        </p:nvSpPr>
        <p:spPr>
          <a:xfrm>
            <a:off x="9541215" y="2980944"/>
            <a:ext cx="1809232" cy="237744"/>
          </a:xfrm>
          <a:prstGeom prst="rect">
            <a:avLst/>
          </a:prstGeom>
          <a:noFill/>
          <a:ln/>
        </p:spPr>
        <p:txBody>
          <a:bodyPr wrap="square" lIns="0" tIns="0" rIns="0" bIns="0" rtlCol="0" anchor="ct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tc netem</a:t>
            </a:r>
            <a:endParaRPr lang="en-US" sz="1000" dirty="0"/>
          </a:p>
        </p:txBody>
      </p:sp>
      <p:sp>
        <p:nvSpPr>
          <p:cNvPr id="44" name="Text 42"/>
          <p:cNvSpPr/>
          <p:nvPr/>
        </p:nvSpPr>
        <p:spPr>
          <a:xfrm>
            <a:off x="9541215" y="3200400"/>
            <a:ext cx="1809232" cy="237744"/>
          </a:xfrm>
          <a:prstGeom prst="rect">
            <a:avLst/>
          </a:prstGeom>
          <a:noFill/>
          <a:ln/>
        </p:spPr>
        <p:txBody>
          <a:bodyPr wrap="square" lIns="0" tIns="0" rIns="0" bIns="0" rtlCol="0" anchor="ct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신규</a:t>
            </a:r>
            <a:endParaRPr lang="en-US" sz="1000" dirty="0"/>
          </a:p>
        </p:txBody>
      </p:sp>
      <p:sp>
        <p:nvSpPr>
          <p:cNvPr id="45" name="Shape 43"/>
          <p:cNvSpPr/>
          <p:nvPr/>
        </p:nvSpPr>
        <p:spPr>
          <a:xfrm>
            <a:off x="566928" y="3913632"/>
            <a:ext cx="2490140" cy="420624"/>
          </a:xfrm>
          <a:prstGeom prst="roundRect">
            <a:avLst>
              <a:gd name="adj" fmla="val 17391"/>
            </a:avLst>
          </a:prstGeom>
          <a:solidFill>
            <a:srgbClr val="222E35"/>
          </a:solidFill>
          <a:ln/>
        </p:spPr>
      </p:sp>
      <p:sp>
        <p:nvSpPr>
          <p:cNvPr id="46" name="Text 44"/>
          <p:cNvSpPr/>
          <p:nvPr/>
        </p:nvSpPr>
        <p:spPr>
          <a:xfrm>
            <a:off x="566928" y="3913632"/>
            <a:ext cx="2490140"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사전 권위 run</a:t>
            </a:r>
            <a:endParaRPr lang="en-US" sz="1150" dirty="0"/>
          </a:p>
        </p:txBody>
      </p:sp>
      <p:sp>
        <p:nvSpPr>
          <p:cNvPr id="47" name="Shape 45"/>
          <p:cNvSpPr/>
          <p:nvPr/>
        </p:nvSpPr>
        <p:spPr>
          <a:xfrm>
            <a:off x="3093644" y="4123944"/>
            <a:ext cx="201168" cy="0"/>
          </a:xfrm>
          <a:prstGeom prst="line">
            <a:avLst/>
          </a:prstGeom>
          <a:noFill/>
          <a:ln w="15875">
            <a:solidFill>
              <a:srgbClr val="7A8A93"/>
            </a:solidFill>
            <a:prstDash val="solid"/>
            <a:tailEnd type="triangle"/>
          </a:ln>
        </p:spPr>
      </p:sp>
      <p:sp>
        <p:nvSpPr>
          <p:cNvPr id="48" name="Shape 46"/>
          <p:cNvSpPr/>
          <p:nvPr/>
        </p:nvSpPr>
        <p:spPr>
          <a:xfrm>
            <a:off x="3331388" y="3913632"/>
            <a:ext cx="2490140" cy="420624"/>
          </a:xfrm>
          <a:prstGeom prst="roundRect">
            <a:avLst>
              <a:gd name="adj" fmla="val 17391"/>
            </a:avLst>
          </a:prstGeom>
          <a:solidFill>
            <a:srgbClr val="222E35"/>
          </a:solidFill>
          <a:ln/>
        </p:spPr>
      </p:sp>
      <p:sp>
        <p:nvSpPr>
          <p:cNvPr id="49" name="Text 47"/>
          <p:cNvSpPr/>
          <p:nvPr/>
        </p:nvSpPr>
        <p:spPr>
          <a:xfrm>
            <a:off x="3331388" y="3913632"/>
            <a:ext cx="2490140"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장애 주입</a:t>
            </a:r>
            <a:endParaRPr lang="en-US" sz="1150" dirty="0"/>
          </a:p>
        </p:txBody>
      </p:sp>
      <p:sp>
        <p:nvSpPr>
          <p:cNvPr id="50" name="Shape 48"/>
          <p:cNvSpPr/>
          <p:nvPr/>
        </p:nvSpPr>
        <p:spPr>
          <a:xfrm>
            <a:off x="5858104" y="4123944"/>
            <a:ext cx="201168" cy="0"/>
          </a:xfrm>
          <a:prstGeom prst="line">
            <a:avLst/>
          </a:prstGeom>
          <a:noFill/>
          <a:ln w="15875">
            <a:solidFill>
              <a:srgbClr val="7A8A93"/>
            </a:solidFill>
            <a:prstDash val="solid"/>
            <a:tailEnd type="triangle"/>
          </a:ln>
        </p:spPr>
      </p:sp>
      <p:sp>
        <p:nvSpPr>
          <p:cNvPr id="51" name="Shape 49"/>
          <p:cNvSpPr/>
          <p:nvPr/>
        </p:nvSpPr>
        <p:spPr>
          <a:xfrm>
            <a:off x="6095848" y="3913632"/>
            <a:ext cx="2490140" cy="420624"/>
          </a:xfrm>
          <a:prstGeom prst="roundRect">
            <a:avLst>
              <a:gd name="adj" fmla="val 17391"/>
            </a:avLst>
          </a:prstGeom>
          <a:solidFill>
            <a:srgbClr val="222E35"/>
          </a:solidFill>
          <a:ln/>
        </p:spPr>
      </p:sp>
      <p:sp>
        <p:nvSpPr>
          <p:cNvPr id="52" name="Text 50"/>
          <p:cNvSpPr/>
          <p:nvPr/>
        </p:nvSpPr>
        <p:spPr>
          <a:xfrm>
            <a:off x="6095848" y="3913632"/>
            <a:ext cx="2490140"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무개입 관찰</a:t>
            </a:r>
            <a:endParaRPr lang="en-US" sz="1150" dirty="0"/>
          </a:p>
        </p:txBody>
      </p:sp>
      <p:sp>
        <p:nvSpPr>
          <p:cNvPr id="53" name="Shape 51"/>
          <p:cNvSpPr/>
          <p:nvPr/>
        </p:nvSpPr>
        <p:spPr>
          <a:xfrm>
            <a:off x="8622563" y="4123944"/>
            <a:ext cx="201168" cy="0"/>
          </a:xfrm>
          <a:prstGeom prst="line">
            <a:avLst/>
          </a:prstGeom>
          <a:noFill/>
          <a:ln w="15875">
            <a:solidFill>
              <a:srgbClr val="7A8A93"/>
            </a:solidFill>
            <a:prstDash val="solid"/>
            <a:tailEnd type="triangle"/>
          </a:ln>
        </p:spPr>
      </p:sp>
      <p:sp>
        <p:nvSpPr>
          <p:cNvPr id="54" name="Shape 52"/>
          <p:cNvSpPr/>
          <p:nvPr/>
        </p:nvSpPr>
        <p:spPr>
          <a:xfrm>
            <a:off x="8860307" y="3913632"/>
            <a:ext cx="2490140" cy="420624"/>
          </a:xfrm>
          <a:prstGeom prst="roundRect">
            <a:avLst>
              <a:gd name="adj" fmla="val 17391"/>
            </a:avLst>
          </a:prstGeom>
          <a:solidFill>
            <a:srgbClr val="222E35"/>
          </a:solidFill>
          <a:ln/>
        </p:spPr>
      </p:sp>
      <p:sp>
        <p:nvSpPr>
          <p:cNvPr id="55" name="Text 53"/>
          <p:cNvSpPr/>
          <p:nvPr/>
        </p:nvSpPr>
        <p:spPr>
          <a:xfrm>
            <a:off x="8860307" y="3913632"/>
            <a:ext cx="2490140"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사후 권위 run</a:t>
            </a:r>
            <a:endParaRPr lang="en-US" sz="1150" dirty="0"/>
          </a:p>
        </p:txBody>
      </p:sp>
      <p:sp>
        <p:nvSpPr>
          <p:cNvPr id="56" name="Text 54"/>
          <p:cNvSpPr/>
          <p:nvPr/>
        </p:nvSpPr>
        <p:spPr>
          <a:xfrm>
            <a:off x="566928" y="4773168"/>
            <a:ext cx="1105783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라이브 PASS 5건. E5·E7은 C01~C23 전건 0위반</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E10 tc netem 커널 주입을 신규 추가한다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k6 시나리오 4종은 실재하나 실행 배선 0건이라 이번에 닫는다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실험 산출물을 파일로 보존해 증거 휘발을 막는다</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336h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2026-08-25T12:58:45Z</dcterms:created>
  <dcterms:modified xsi:type="dcterms:W3CDTF">2026-08-25T12:58:45Z</dcterms:modified>
</cp:coreProperties>
</file>
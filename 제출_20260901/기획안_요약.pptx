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봇이 실시간으로 매매하는 완전 시뮬레이션 거래소입니다. 실거래와 실자산은 없습니다. 이 시스템에 장애를 의도적으로 주입하고, 원인이 어느 계층인지 좁히고, 장애가 지나간 뒤 데이터가 맞는지를 원장 SQL로 판정합니다. 서비스는 이미 서 있고 남은 6주는 전부 인프라와 운영에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운영 현장에서 장애는 지표로 도착하지 않고 문장으로 도착합니다. 엔지니어의 일은 그 한 문장을 계층으로 좁히는 것입니다. 그런데 대부분의 장애 실습은 사후 판정을 못 합니다. 응답시간은 데이터가 틀어졌는지 말해주지 않습니다. 거래소를 고른 것은 취향이 아니라 복식부기 원장이 정답 상태를 이미 갖고 있기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명제는 반증 조건을 함께 적을 때만 명제입니다. 판정은 SQL 위반 행 수, 메트릭 임계, 스크립트 종료 코드 세 가지로만 합니다. 데모 화면이 잘 도는 것은 증거로 치지 않습니다. 표의 RTO 는 2026-09-13 에 같은 코드 위에서 다시 잰 값이고 전부 로컬 카오스 스택입니다. 클라우드 실측은 아직 0건입니다. 미확인을 미확인이라고 적는 것이 이 문서의 규율입니다.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가운데 굵은 가로선이 쓰기 경로입니다. 정거장 여섯 개를 왼쪽에서 오른쪽으로 읽으면 접수, 저널 append, ACK, 매칭엔진, 원장 정산, 프로젝션입니다. 200 을 내는 지점이 세 번째라는 것이 이 설계의 요지입니다. 디스크에 남기고 나서 응답하므로 그 뒤에 무엇이 죽어도 재생할 수 있습니다. 옅게 채운 상자가 PostgreSQL 에 남는 것, 흰 상자가 메모리에서 도는 것, 파선이 재계산 가능한 파생입니다. 색을 쓰지 않고 형태로만 갈랐습니다. 굵은 테두리를 두른 매칭엔진이 이중화할 수 없는 유일점입니다. 위 칸이 가용영역 a 이고 아래 점선 칸이 c 입니다. app-1 과 app-2 를 같은 x 에 두었기 때문에 같은 자리가 다른 가용영역에서 다시 선다는 것이 배치로 읽힙니다. ALB 는 앱이 내는 readiness 503 을 그대로 읽습니다. 팔로워가 스스로 빠지므로 헬스체크를 자작하지 않았고 판정 주체는 여전히 앱입니다. 맨 아래 점선 띠가 온프레미스 검증면입니다. tc netem 과 nftables 같은 커널 계층 주입은 이 평면 전용입니다. 클라우드 노드에 걸면 SSM 접근 경로가 같은 네트워크를 타서 노드를 통째로 잃습니다. 두 평면을 잇는 것은 상시 터널이 아니라 같은 GHCR digest 와 저장소에 커밋한 verdict 파일입니다.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학교 필수 조건이 외부에서 접속 가능한 상태로 서비스하는 것입니다. 그런데 이 프로젝트의 핵심 실험은 커널에 장애를 주입하는 것이라 한 평면에서는 양립하지 않습니다. 그래서 세 평면으로 나눴습니다. 상시면은 두 가용영역에 이중화한 채로 24시간 서고, 증명면은 부하 창에만 뜨는 발생기 한 대이며, 검증면은 집 PC 의 온프레미스라 비용이 0입니다. 로드밸런서는 ALB 를 채택했습니다. 자작 헬스체크를 없애려고 관리형을 쓴 것이 아니라 앱이 이미 내고 있는 readiness 계약을 그대로 소비시킨 것이라 판정 주체는 여전히 앱입니다. 관리형 DB를 안 쓴 것은 반대 방향의 판단입니다. 복제 링크에 tc netem 을 걸 수 없으면 증명 두 번째 명제가 성립하지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운영과 보안은 설정했다는 말로는 증거가 되지 않습니다. DB 롤을 분리한 뒤 실제로 42501 권한 거부가 나오는 것, 원장에 직접 UPDATE 를 시도했을 때 P0001 로 막히는 것을 캡처로 남깁니다. 비용은 결과가 아니라 설계 변수로 다뤘습니다. 상한을 먼저 정하고 그 안에 들어오는 토폴로지를 골랐습니다. 판정면도 바꿨습니다. 730시간 런레이트는 이 구조가 한 번도 실현하지 않는 값이라 달력 월 실청구로 판정합니다. 구월과 시월이 각각 97,318원이고 여유가 2,682원뿐입니다. 그 여유가 환율의 함수라서 부하 발생기 시간을 환율별 가용치 표로 정의해 두었습니다. 크레딧이 남아 있어 실제 현금 지출은 0이지만 상한을 현금 기준으로 완화하지 않았습니다. 완화하면 RDS 대신 자체 복제를 고른 근거가 함께 사라집니다.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실험 열 종입니다. 왼쪽이 무엇을 확인하는 실험인지, 오른쪽이 실제로 나온 결과입니다. 라이브 통과가 여섯 건이고 그중 E5와 E7은 불변식 스물세 개가 전건 0위반이었습니다. 복구됐다는 사실과 데이터가 맞다는 사실을 같은 실행 안에서 함께 판정했다는 뜻입니다. E4 리더 킬은 9월 13일에 같은 코드 위에서 다시 재서 6.518초로 통과했습니다. 빨간 줄 하나가 남은 일입니다. E10은 지금까지와 층위가 다릅니다. E1부터 E9까지는 전부 프록시가 느린 척 끊긴 척한 모사이고, tc netem 은 리눅스 커널 큐에 직접 지연과 손실을 넣습니다. 그게 실제 네트워크 장애와 같은 층위입니다.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48일, 순 가용 303시간입니다. 계획에 186시간을 쓰고 60시간을 예비로 남겼습니다. 이 저장소는 환경 마찰로 며칠씩 날린 전례가 다섯 건 문서로 남아 있어서 슬랙 없는 계획은 실패합니다. 고정점 네 개는 침범하지 않고, 밀리면 미리 정한 순서대로 자릅니다.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2E35"/>
        </a:solidFill>
      </p:bgPr>
    </p:bg>
    <p:spTree>
      <p:nvGrpSpPr>
        <p:cNvPr id="1" name=""/>
        <p:cNvGrpSpPr/>
        <p:nvPr/>
      </p:nvGrpSpPr>
      <p:grpSpPr>
        <a:xfrm>
          <a:off x="0" y="0"/>
          <a:ext cx="0" cy="0"/>
          <a:chOff x="0" y="0"/>
          <a:chExt cx="0" cy="0"/>
        </a:xfrm>
      </p:grpSpPr>
      <p:sp>
        <p:nvSpPr>
          <p:cNvPr id="2" name="Text 0"/>
          <p:cNvSpPr/>
          <p:nvPr/>
        </p:nvSpPr>
        <p:spPr>
          <a:xfrm>
            <a:off x="566928" y="1417320"/>
            <a:ext cx="11057839" cy="822960"/>
          </a:xfrm>
          <a:prstGeom prst="rect">
            <a:avLst/>
          </a:prstGeom>
          <a:noFill/>
          <a:ln/>
        </p:spPr>
        <p:txBody>
          <a:bodyPr wrap="square" lIns="0" tIns="0" rIns="0" bIns="0" rtlCol="0" anchor="ctr"/>
          <a:lstStyle/>
          <a:p>
            <a:pPr indent="0" marL="0">
              <a:buNone/>
            </a:pPr>
            <a:r>
              <a:rPr lang="en-US" sz="4000" b="1" dirty="0">
                <a:solidFill>
                  <a:srgbClr val="FFFFFF"/>
                </a:solidFill>
                <a:latin typeface="맑은 고딕" pitchFamily="34" charset="0"/>
                <a:ea typeface="맑은 고딕" pitchFamily="34" charset="-122"/>
                <a:cs typeface="맑은 고딕" pitchFamily="34" charset="-120"/>
              </a:rPr>
              <a:t>고가용성 가상 암호화폐 거래소</a:t>
            </a:r>
            <a:endParaRPr lang="en-US" sz="4000" dirty="0"/>
          </a:p>
        </p:txBody>
      </p:sp>
      <p:sp>
        <p:nvSpPr>
          <p:cNvPr id="3" name="Text 1"/>
          <p:cNvSpPr/>
          <p:nvPr/>
        </p:nvSpPr>
        <p:spPr>
          <a:xfrm>
            <a:off x="566928" y="2286000"/>
            <a:ext cx="11057839" cy="548640"/>
          </a:xfrm>
          <a:prstGeom prst="rect">
            <a:avLst/>
          </a:prstGeom>
          <a:noFill/>
          <a:ln/>
        </p:spPr>
        <p:txBody>
          <a:bodyPr wrap="square" lIns="0" tIns="0" rIns="0" bIns="0" rtlCol="0" anchor="ctr"/>
          <a:lstStyle/>
          <a:p>
            <a:pPr indent="0" marL="0">
              <a:buNone/>
            </a:pPr>
            <a:r>
              <a:rPr lang="en-US" sz="1900" dirty="0">
                <a:solidFill>
                  <a:srgbClr val="9FB3BE"/>
                </a:solidFill>
                <a:latin typeface="맑은 고딕" pitchFamily="34" charset="0"/>
                <a:ea typeface="맑은 고딕" pitchFamily="34" charset="-122"/>
                <a:cs typeface="맑은 고딕" pitchFamily="34" charset="-120"/>
              </a:rPr>
              <a:t>장애를 일부러 주입하고, 데이터가 맞는지 원장 SQL로 판정한다</a:t>
            </a:r>
            <a:endParaRPr lang="en-US" sz="1900" dirty="0"/>
          </a:p>
        </p:txBody>
      </p:sp>
      <p:sp>
        <p:nvSpPr>
          <p:cNvPr id="4" name="Shape 2"/>
          <p:cNvSpPr/>
          <p:nvPr/>
        </p:nvSpPr>
        <p:spPr>
          <a:xfrm>
            <a:off x="566928" y="3310128"/>
            <a:ext cx="1874520" cy="914400"/>
          </a:xfrm>
          <a:prstGeom prst="roundRect">
            <a:avLst>
              <a:gd name="adj" fmla="val 5000"/>
            </a:avLst>
          </a:prstGeom>
          <a:solidFill>
            <a:srgbClr val="2C3A43"/>
          </a:solidFill>
          <a:ln w="9525">
            <a:solidFill>
              <a:srgbClr val="3D4E58"/>
            </a:solidFill>
            <a:prstDash val="solid"/>
          </a:ln>
        </p:spPr>
      </p:sp>
      <p:sp>
        <p:nvSpPr>
          <p:cNvPr id="5" name="Text 3"/>
          <p:cNvSpPr/>
          <p:nvPr/>
        </p:nvSpPr>
        <p:spPr>
          <a:xfrm>
            <a:off x="566928" y="3401568"/>
            <a:ext cx="1874520" cy="457200"/>
          </a:xfrm>
          <a:prstGeom prst="rect">
            <a:avLst/>
          </a:prstGeom>
          <a:noFill/>
          <a:ln/>
        </p:spPr>
        <p:txBody>
          <a:bodyPr wrap="square" lIns="0" tIns="0" rIns="0" bIns="0" rtlCol="0" anchor="ctr"/>
          <a:lstStyle/>
          <a:p>
            <a:pPr algn="ctr" indent="0" marL="0">
              <a:buNone/>
            </a:pPr>
            <a:r>
              <a:rPr lang="en-US" sz="2300" b="1" dirty="0">
                <a:solidFill>
                  <a:srgbClr val="FFFFFF"/>
                </a:solidFill>
                <a:latin typeface="맑은 고딕" pitchFamily="34" charset="0"/>
                <a:ea typeface="맑은 고딕" pitchFamily="34" charset="-122"/>
                <a:cs typeface="맑은 고딕" pitchFamily="34" charset="-120"/>
              </a:rPr>
              <a:t>220</a:t>
            </a:r>
            <a:endParaRPr lang="en-US" sz="2300" dirty="0"/>
          </a:p>
        </p:txBody>
      </p:sp>
      <p:sp>
        <p:nvSpPr>
          <p:cNvPr id="6" name="Text 4"/>
          <p:cNvSpPr/>
          <p:nvPr/>
        </p:nvSpPr>
        <p:spPr>
          <a:xfrm>
            <a:off x="566928" y="3840480"/>
            <a:ext cx="1874520" cy="274320"/>
          </a:xfrm>
          <a:prstGeom prst="rect">
            <a:avLst/>
          </a:prstGeom>
          <a:noFill/>
          <a:ln/>
        </p:spPr>
        <p:txBody>
          <a:bodyPr wrap="square" lIns="0" tIns="0" rIns="0" bIns="0" rtlCol="0" anchor="ctr"/>
          <a:lstStyle/>
          <a:p>
            <a:pPr algn="ctr" indent="0" marL="0">
              <a:buNone/>
            </a:pPr>
            <a:r>
              <a:rPr lang="en-US" sz="1100" dirty="0">
                <a:solidFill>
                  <a:srgbClr val="8AA0AC"/>
                </a:solidFill>
                <a:latin typeface="맑은 고딕" pitchFamily="34" charset="0"/>
                <a:ea typeface="맑은 고딕" pitchFamily="34" charset="-122"/>
                <a:cs typeface="맑은 고딕" pitchFamily="34" charset="-120"/>
              </a:rPr>
              <a:t>커밋</a:t>
            </a:r>
            <a:endParaRPr lang="en-US" sz="1100" dirty="0"/>
          </a:p>
        </p:txBody>
      </p:sp>
      <p:sp>
        <p:nvSpPr>
          <p:cNvPr id="7" name="Shape 5"/>
          <p:cNvSpPr/>
          <p:nvPr/>
        </p:nvSpPr>
        <p:spPr>
          <a:xfrm>
            <a:off x="2688336" y="3310128"/>
            <a:ext cx="1874520" cy="914400"/>
          </a:xfrm>
          <a:prstGeom prst="roundRect">
            <a:avLst>
              <a:gd name="adj" fmla="val 5000"/>
            </a:avLst>
          </a:prstGeom>
          <a:solidFill>
            <a:srgbClr val="2C3A43"/>
          </a:solidFill>
          <a:ln w="9525">
            <a:solidFill>
              <a:srgbClr val="3D4E58"/>
            </a:solidFill>
            <a:prstDash val="solid"/>
          </a:ln>
        </p:spPr>
      </p:sp>
      <p:sp>
        <p:nvSpPr>
          <p:cNvPr id="8" name="Text 6"/>
          <p:cNvSpPr/>
          <p:nvPr/>
        </p:nvSpPr>
        <p:spPr>
          <a:xfrm>
            <a:off x="2688336" y="3401568"/>
            <a:ext cx="1874520" cy="457200"/>
          </a:xfrm>
          <a:prstGeom prst="rect">
            <a:avLst/>
          </a:prstGeom>
          <a:noFill/>
          <a:ln/>
        </p:spPr>
        <p:txBody>
          <a:bodyPr wrap="square" lIns="0" tIns="0" rIns="0" bIns="0" rtlCol="0" anchor="ctr"/>
          <a:lstStyle/>
          <a:p>
            <a:pPr algn="ctr" indent="0" marL="0">
              <a:buNone/>
            </a:pPr>
            <a:r>
              <a:rPr lang="en-US" sz="2300" b="1" dirty="0">
                <a:solidFill>
                  <a:srgbClr val="FFFFFF"/>
                </a:solidFill>
                <a:latin typeface="맑은 고딕" pitchFamily="34" charset="0"/>
                <a:ea typeface="맑은 고딕" pitchFamily="34" charset="-122"/>
                <a:cs typeface="맑은 고딕" pitchFamily="34" charset="-120"/>
              </a:rPr>
              <a:t>19,867</a:t>
            </a:r>
            <a:endParaRPr lang="en-US" sz="2300" dirty="0"/>
          </a:p>
        </p:txBody>
      </p:sp>
      <p:sp>
        <p:nvSpPr>
          <p:cNvPr id="9" name="Text 7"/>
          <p:cNvSpPr/>
          <p:nvPr/>
        </p:nvSpPr>
        <p:spPr>
          <a:xfrm>
            <a:off x="2688336" y="3840480"/>
            <a:ext cx="1874520" cy="274320"/>
          </a:xfrm>
          <a:prstGeom prst="rect">
            <a:avLst/>
          </a:prstGeom>
          <a:noFill/>
          <a:ln/>
        </p:spPr>
        <p:txBody>
          <a:bodyPr wrap="square" lIns="0" tIns="0" rIns="0" bIns="0" rtlCol="0" anchor="ctr"/>
          <a:lstStyle/>
          <a:p>
            <a:pPr algn="ctr" indent="0" marL="0">
              <a:buNone/>
            </a:pPr>
            <a:r>
              <a:rPr lang="en-US" sz="1100" dirty="0">
                <a:solidFill>
                  <a:srgbClr val="8AA0AC"/>
                </a:solidFill>
                <a:latin typeface="맑은 고딕" pitchFamily="34" charset="0"/>
                <a:ea typeface="맑은 고딕" pitchFamily="34" charset="-122"/>
                <a:cs typeface="맑은 고딕" pitchFamily="34" charset="-120"/>
              </a:rPr>
              <a:t>서버 줄</a:t>
            </a:r>
            <a:endParaRPr lang="en-US" sz="1100" dirty="0"/>
          </a:p>
        </p:txBody>
      </p:sp>
      <p:sp>
        <p:nvSpPr>
          <p:cNvPr id="10" name="Shape 8"/>
          <p:cNvSpPr/>
          <p:nvPr/>
        </p:nvSpPr>
        <p:spPr>
          <a:xfrm>
            <a:off x="4809744" y="3310128"/>
            <a:ext cx="1874520" cy="914400"/>
          </a:xfrm>
          <a:prstGeom prst="roundRect">
            <a:avLst>
              <a:gd name="adj" fmla="val 5000"/>
            </a:avLst>
          </a:prstGeom>
          <a:solidFill>
            <a:srgbClr val="2C3A43"/>
          </a:solidFill>
          <a:ln w="9525">
            <a:solidFill>
              <a:srgbClr val="3D4E58"/>
            </a:solidFill>
            <a:prstDash val="solid"/>
          </a:ln>
        </p:spPr>
      </p:sp>
      <p:sp>
        <p:nvSpPr>
          <p:cNvPr id="11" name="Text 9"/>
          <p:cNvSpPr/>
          <p:nvPr/>
        </p:nvSpPr>
        <p:spPr>
          <a:xfrm>
            <a:off x="4809744" y="3401568"/>
            <a:ext cx="1874520" cy="457200"/>
          </a:xfrm>
          <a:prstGeom prst="rect">
            <a:avLst/>
          </a:prstGeom>
          <a:noFill/>
          <a:ln/>
        </p:spPr>
        <p:txBody>
          <a:bodyPr wrap="square" lIns="0" tIns="0" rIns="0" bIns="0" rtlCol="0" anchor="ctr"/>
          <a:lstStyle/>
          <a:p>
            <a:pPr algn="ctr" indent="0" marL="0">
              <a:buNone/>
            </a:pPr>
            <a:r>
              <a:rPr lang="en-US" sz="2300" b="1" dirty="0">
                <a:solidFill>
                  <a:srgbClr val="FFFFFF"/>
                </a:solidFill>
                <a:latin typeface="맑은 고딕" pitchFamily="34" charset="0"/>
                <a:ea typeface="맑은 고딕" pitchFamily="34" charset="-122"/>
                <a:cs typeface="맑은 고딕" pitchFamily="34" charset="-120"/>
              </a:rPr>
              <a:t>23,749</a:t>
            </a:r>
            <a:endParaRPr lang="en-US" sz="2300" dirty="0"/>
          </a:p>
        </p:txBody>
      </p:sp>
      <p:sp>
        <p:nvSpPr>
          <p:cNvPr id="12" name="Text 10"/>
          <p:cNvSpPr/>
          <p:nvPr/>
        </p:nvSpPr>
        <p:spPr>
          <a:xfrm>
            <a:off x="4809744" y="3840480"/>
            <a:ext cx="1874520" cy="274320"/>
          </a:xfrm>
          <a:prstGeom prst="rect">
            <a:avLst/>
          </a:prstGeom>
          <a:noFill/>
          <a:ln/>
        </p:spPr>
        <p:txBody>
          <a:bodyPr wrap="square" lIns="0" tIns="0" rIns="0" bIns="0" rtlCol="0" anchor="ctr"/>
          <a:lstStyle/>
          <a:p>
            <a:pPr algn="ctr" indent="0" marL="0">
              <a:buNone/>
            </a:pPr>
            <a:r>
              <a:rPr lang="en-US" sz="1100" dirty="0">
                <a:solidFill>
                  <a:srgbClr val="8AA0AC"/>
                </a:solidFill>
                <a:latin typeface="맑은 고딕" pitchFamily="34" charset="0"/>
                <a:ea typeface="맑은 고딕" pitchFamily="34" charset="-122"/>
                <a:cs typeface="맑은 고딕" pitchFamily="34" charset="-120"/>
              </a:rPr>
              <a:t>웹 줄</a:t>
            </a:r>
            <a:endParaRPr lang="en-US" sz="1100" dirty="0"/>
          </a:p>
        </p:txBody>
      </p:sp>
      <p:sp>
        <p:nvSpPr>
          <p:cNvPr id="13" name="Shape 11"/>
          <p:cNvSpPr/>
          <p:nvPr/>
        </p:nvSpPr>
        <p:spPr>
          <a:xfrm>
            <a:off x="6931152" y="3310128"/>
            <a:ext cx="1874520" cy="914400"/>
          </a:xfrm>
          <a:prstGeom prst="roundRect">
            <a:avLst>
              <a:gd name="adj" fmla="val 5000"/>
            </a:avLst>
          </a:prstGeom>
          <a:solidFill>
            <a:srgbClr val="2C3A43"/>
          </a:solidFill>
          <a:ln w="9525">
            <a:solidFill>
              <a:srgbClr val="3D4E58"/>
            </a:solidFill>
            <a:prstDash val="solid"/>
          </a:ln>
        </p:spPr>
      </p:sp>
      <p:sp>
        <p:nvSpPr>
          <p:cNvPr id="14" name="Text 12"/>
          <p:cNvSpPr/>
          <p:nvPr/>
        </p:nvSpPr>
        <p:spPr>
          <a:xfrm>
            <a:off x="6931152" y="3401568"/>
            <a:ext cx="1874520" cy="457200"/>
          </a:xfrm>
          <a:prstGeom prst="rect">
            <a:avLst/>
          </a:prstGeom>
          <a:noFill/>
          <a:ln/>
        </p:spPr>
        <p:txBody>
          <a:bodyPr wrap="square" lIns="0" tIns="0" rIns="0" bIns="0" rtlCol="0" anchor="ctr"/>
          <a:lstStyle/>
          <a:p>
            <a:pPr algn="ctr" indent="0" marL="0">
              <a:buNone/>
            </a:pPr>
            <a:r>
              <a:rPr lang="en-US" sz="2300" b="1" dirty="0">
                <a:solidFill>
                  <a:srgbClr val="FFFFFF"/>
                </a:solidFill>
                <a:latin typeface="맑은 고딕" pitchFamily="34" charset="0"/>
                <a:ea typeface="맑은 고딕" pitchFamily="34" charset="-122"/>
                <a:cs typeface="맑은 고딕" pitchFamily="34" charset="-120"/>
              </a:rPr>
              <a:t>26</a:t>
            </a:r>
            <a:endParaRPr lang="en-US" sz="2300" dirty="0"/>
          </a:p>
        </p:txBody>
      </p:sp>
      <p:sp>
        <p:nvSpPr>
          <p:cNvPr id="15" name="Text 13"/>
          <p:cNvSpPr/>
          <p:nvPr/>
        </p:nvSpPr>
        <p:spPr>
          <a:xfrm>
            <a:off x="6931152" y="3840480"/>
            <a:ext cx="1874520" cy="274320"/>
          </a:xfrm>
          <a:prstGeom prst="rect">
            <a:avLst/>
          </a:prstGeom>
          <a:noFill/>
          <a:ln/>
        </p:spPr>
        <p:txBody>
          <a:bodyPr wrap="square" lIns="0" tIns="0" rIns="0" bIns="0" rtlCol="0" anchor="ctr"/>
          <a:lstStyle/>
          <a:p>
            <a:pPr algn="ctr" indent="0" marL="0">
              <a:buNone/>
            </a:pPr>
            <a:r>
              <a:rPr lang="en-US" sz="1100" dirty="0">
                <a:solidFill>
                  <a:srgbClr val="8AA0AC"/>
                </a:solidFill>
                <a:latin typeface="맑은 고딕" pitchFamily="34" charset="0"/>
                <a:ea typeface="맑은 고딕" pitchFamily="34" charset="-122"/>
                <a:cs typeface="맑은 고딕" pitchFamily="34" charset="-120"/>
              </a:rPr>
              <a:t>불변식</a:t>
            </a:r>
            <a:endParaRPr lang="en-US" sz="1100" dirty="0"/>
          </a:p>
        </p:txBody>
      </p:sp>
      <p:sp>
        <p:nvSpPr>
          <p:cNvPr id="16" name="Text 14"/>
          <p:cNvSpPr/>
          <p:nvPr/>
        </p:nvSpPr>
        <p:spPr>
          <a:xfrm>
            <a:off x="566928" y="5120640"/>
            <a:ext cx="11057839" cy="640080"/>
          </a:xfrm>
          <a:prstGeom prst="rect">
            <a:avLst/>
          </a:prstGeom>
          <a:noFill/>
          <a:ln/>
        </p:spPr>
        <p:txBody>
          <a:bodyPr wrap="square" lIns="0" tIns="0" rIns="0" bIns="0" rtlCol="0" anchor="ctr"/>
          <a:lstStyle/>
          <a:p>
            <a:pPr indent="0" marL="0">
              <a:lnSpc>
                <a:spcPts val="1900"/>
              </a:lnSpc>
              <a:buNone/>
            </a:pPr>
            <a:r>
              <a:rPr lang="en-US" sz="1200" dirty="0">
                <a:solidFill>
                  <a:srgbClr val="8AA0AC"/>
                </a:solidFill>
                <a:latin typeface="맑은 고딕" pitchFamily="34" charset="0"/>
                <a:ea typeface="맑은 고딕" pitchFamily="34" charset="-122"/>
                <a:cs typeface="맑은 고딕" pitchFamily="34" charset="-120"/>
              </a:rPr>
              <a:t>1인 프로젝트  ·  한국폴리텍대학 광명융합기술교육원 데이터분석과</a:t>
            </a:r>
            <a:endParaRPr lang="en-US" sz="1200" dirty="0"/>
          </a:p>
          <a:p>
            <a:pPr indent="0" marL="0">
              <a:lnSpc>
                <a:spcPts val="1900"/>
              </a:lnSpc>
              <a:buNone/>
            </a:pPr>
            <a:r>
              <a:rPr lang="en-US" sz="1200" dirty="0">
                <a:solidFill>
                  <a:srgbClr val="8AA0AC"/>
                </a:solidFill>
                <a:latin typeface="맑은 고딕" pitchFamily="34" charset="0"/>
                <a:ea typeface="맑은 고딕" pitchFamily="34" charset="-122"/>
                <a:cs typeface="맑은 고딕" pitchFamily="34" charset="-120"/>
              </a:rPr>
              <a:t>작성 2026-08-25  ·  발표 2026-10-16  ·  이상혁</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1999" cy="566928"/>
          </a:xfrm>
          <a:prstGeom prst="rect">
            <a:avLst/>
          </a:prstGeom>
          <a:noFill/>
          <a:ln/>
        </p:spPr>
        <p:txBody>
          <a:bodyPr wrap="square" lIns="0" tIns="0" rIns="0" bIns="0" rtlCol="0" anchor="ctr"/>
          <a:lstStyle/>
          <a:p>
            <a:pPr indent="0" marL="0">
              <a:buNone/>
            </a:pPr>
            <a:r>
              <a:rPr lang="en-US" sz="3100" b="1" dirty="0">
                <a:solidFill>
                  <a:srgbClr val="1B2429"/>
                </a:solidFill>
                <a:latin typeface="맑은 고딕" pitchFamily="34" charset="0"/>
                <a:ea typeface="맑은 고딕" pitchFamily="34" charset="-122"/>
                <a:cs typeface="맑은 고딕" pitchFamily="34" charset="-120"/>
              </a:rPr>
              <a:t>문제 정의</a:t>
            </a:r>
            <a:endParaRPr lang="en-US" sz="3100" dirty="0"/>
          </a:p>
        </p:txBody>
      </p:sp>
      <p:sp>
        <p:nvSpPr>
          <p:cNvPr id="3" name="Text 1"/>
          <p:cNvSpPr/>
          <p:nvPr/>
        </p:nvSpPr>
        <p:spPr>
          <a:xfrm>
            <a:off x="10847527" y="384048"/>
            <a:ext cx="777240" cy="566928"/>
          </a:xfrm>
          <a:prstGeom prst="rect">
            <a:avLst/>
          </a:prstGeom>
          <a:noFill/>
          <a:ln/>
        </p:spPr>
        <p:txBody>
          <a:bodyPr wrap="square" lIns="0" tIns="0" rIns="0" bIns="0" rtlCol="0" anchor="ctr"/>
          <a:lstStyle/>
          <a:p>
            <a:pPr algn="r" indent="0" marL="0">
              <a:buNone/>
            </a:pPr>
            <a:r>
              <a:rPr lang="en-US" sz="3100" b="1" dirty="0">
                <a:solidFill>
                  <a:srgbClr val="C9D2D7"/>
                </a:solidFill>
                <a:latin typeface="맑은 고딕" pitchFamily="34" charset="0"/>
                <a:ea typeface="맑은 고딕" pitchFamily="34" charset="-122"/>
                <a:cs typeface="맑은 고딕" pitchFamily="34" charset="-120"/>
              </a:rPr>
              <a:t>02</a:t>
            </a:r>
            <a:endParaRPr lang="en-US" sz="3100" dirty="0"/>
          </a:p>
        </p:txBody>
      </p:sp>
      <p:sp>
        <p:nvSpPr>
          <p:cNvPr id="4" name="Text 2"/>
          <p:cNvSpPr/>
          <p:nvPr/>
        </p:nvSpPr>
        <p:spPr>
          <a:xfrm>
            <a:off x="566928" y="969264"/>
            <a:ext cx="11057839" cy="384048"/>
          </a:xfrm>
          <a:prstGeom prst="rect">
            <a:avLst/>
          </a:prstGeom>
          <a:noFill/>
          <a:ln/>
        </p:spPr>
        <p:txBody>
          <a:bodyPr wrap="square" lIns="0" tIns="0" rIns="0" bIns="0" rtlCol="0" anchor="ctr"/>
          <a:lstStyle/>
          <a:p>
            <a:pPr indent="0" marL="0">
              <a:buNone/>
            </a:pPr>
            <a:r>
              <a:rPr lang="en-US" sz="1450" i="1" dirty="0">
                <a:solidFill>
                  <a:srgbClr val="3C4A52"/>
                </a:solidFill>
                <a:latin typeface="맑은 고딕" pitchFamily="34" charset="0"/>
                <a:ea typeface="맑은 고딕" pitchFamily="34" charset="-122"/>
                <a:cs typeface="맑은 고딕" pitchFamily="34" charset="-120"/>
              </a:rPr>
              <a:t>응답시간은 장애가 지나간 뒤 데이터가 맞는지를 말하지 못한다</a:t>
            </a:r>
            <a:endParaRPr lang="en-US" sz="1450" dirty="0"/>
          </a:p>
        </p:txBody>
      </p:sp>
      <p:sp>
        <p:nvSpPr>
          <p:cNvPr id="5" name="Shape 3"/>
          <p:cNvSpPr/>
          <p:nvPr/>
        </p:nvSpPr>
        <p:spPr>
          <a:xfrm>
            <a:off x="566928" y="1572768"/>
            <a:ext cx="2377440" cy="457200"/>
          </a:xfrm>
          <a:prstGeom prst="roundRect">
            <a:avLst>
              <a:gd name="adj" fmla="val 20000"/>
            </a:avLst>
          </a:prstGeom>
          <a:solidFill>
            <a:srgbClr val="222E35"/>
          </a:solidFill>
          <a:ln/>
        </p:spPr>
      </p:sp>
      <p:sp>
        <p:nvSpPr>
          <p:cNvPr id="6" name="Text 4"/>
          <p:cNvSpPr/>
          <p:nvPr/>
        </p:nvSpPr>
        <p:spPr>
          <a:xfrm>
            <a:off x="566928" y="1572768"/>
            <a:ext cx="23774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"안 돼요"  /  "느려요"</a:t>
            </a:r>
            <a:endParaRPr lang="en-US" sz="1300" dirty="0"/>
          </a:p>
        </p:txBody>
      </p:sp>
      <p:sp>
        <p:nvSpPr>
          <p:cNvPr id="7" name="Shape 5"/>
          <p:cNvSpPr/>
          <p:nvPr/>
        </p:nvSpPr>
        <p:spPr>
          <a:xfrm>
            <a:off x="566928" y="2249424"/>
            <a:ext cx="5212080" cy="768096"/>
          </a:xfrm>
          <a:prstGeom prst="roundRect">
            <a:avLst>
              <a:gd name="adj" fmla="val 5952"/>
            </a:avLst>
          </a:prstGeom>
          <a:solidFill>
            <a:srgbClr val="F2F5F6"/>
          </a:solidFill>
          <a:ln w="9525">
            <a:solidFill>
              <a:srgbClr val="D8DEE2"/>
            </a:solidFill>
            <a:prstDash val="solid"/>
          </a:ln>
        </p:spPr>
      </p:sp>
      <p:sp>
        <p:nvSpPr>
          <p:cNvPr id="8" name="Text 6"/>
          <p:cNvSpPr/>
          <p:nvPr/>
        </p:nvSpPr>
        <p:spPr>
          <a:xfrm>
            <a:off x="713232" y="2249424"/>
            <a:ext cx="1234440" cy="768096"/>
          </a:xfrm>
          <a:prstGeom prst="rect">
            <a:avLst/>
          </a:prstGeom>
          <a:noFill/>
          <a:ln/>
        </p:spPr>
        <p:txBody>
          <a:bodyPr wrap="square" lIns="0" tIns="0" rIns="0" bIns="0" rtlCol="0" anchor="ctr"/>
          <a:lstStyle/>
          <a:p>
            <a:pPr indent="0" marL="0">
              <a:buNone/>
            </a:pPr>
            <a:r>
              <a:rPr lang="en-US" sz="1300" b="1" dirty="0">
                <a:solidFill>
                  <a:srgbClr val="1B2429"/>
                </a:solidFill>
                <a:latin typeface="맑은 고딕" pitchFamily="34" charset="0"/>
                <a:ea typeface="맑은 고딕" pitchFamily="34" charset="-122"/>
                <a:cs typeface="맑은 고딕" pitchFamily="34" charset="-120"/>
              </a:rPr>
              <a:t>L3  도달</a:t>
            </a:r>
            <a:endParaRPr lang="en-US" sz="1300" dirty="0"/>
          </a:p>
        </p:txBody>
      </p:sp>
      <p:sp>
        <p:nvSpPr>
          <p:cNvPr id="9" name="Text 7"/>
          <p:cNvSpPr/>
          <p:nvPr/>
        </p:nvSpPr>
        <p:spPr>
          <a:xfrm>
            <a:off x="1984248" y="2249424"/>
            <a:ext cx="2286000" cy="768096"/>
          </a:xfrm>
          <a:prstGeom prst="rect">
            <a:avLst/>
          </a:prstGeom>
          <a:noFill/>
          <a:ln/>
        </p:spPr>
        <p:txBody>
          <a:bodyPr wrap="square" lIns="0" tIns="0" rIns="0" bIns="0" rtlCol="0" anchor="ctr"/>
          <a:lstStyle/>
          <a:p>
            <a:pPr indent="0" marL="0">
              <a:buNone/>
            </a:pPr>
            <a:r>
              <a:rPr lang="en-US" sz="1150" dirty="0">
                <a:solidFill>
                  <a:srgbClr val="3C4A52"/>
                </a:solidFill>
                <a:latin typeface="맑은 고딕" pitchFamily="34" charset="0"/>
                <a:ea typeface="맑은 고딕" pitchFamily="34" charset="-122"/>
                <a:cs typeface="맑은 고딕" pitchFamily="34" charset="-120"/>
              </a:rPr>
              <a:t>ICMP 프로브</a:t>
            </a:r>
            <a:endParaRPr lang="en-US" sz="1150" dirty="0"/>
          </a:p>
        </p:txBody>
      </p:sp>
      <p:sp>
        <p:nvSpPr>
          <p:cNvPr id="10" name="Text 8"/>
          <p:cNvSpPr/>
          <p:nvPr/>
        </p:nvSpPr>
        <p:spPr>
          <a:xfrm>
            <a:off x="4270248" y="2249424"/>
            <a:ext cx="1371600" cy="768096"/>
          </a:xfrm>
          <a:prstGeom prst="rect">
            <a:avLst/>
          </a:prstGeom>
          <a:noFill/>
          <a:ln/>
        </p:spPr>
        <p:txBody>
          <a:bodyPr wrap="square" lIns="0" tIns="0" rIns="0" bIns="0" rtlCol="0" anchor="ctr"/>
          <a:lstStyle/>
          <a:p>
            <a:pPr algn="r" indent="0" marL="0">
              <a:buNone/>
            </a:pPr>
            <a:r>
              <a:rPr lang="en-US" sz="1150" b="1" dirty="0">
                <a:solidFill>
                  <a:srgbClr val="B33A32"/>
                </a:solidFill>
                <a:latin typeface="맑은 고딕" pitchFamily="34" charset="0"/>
                <a:ea typeface="맑은 고딕" pitchFamily="34" charset="-122"/>
                <a:cs typeface="맑은 고딕" pitchFamily="34" charset="-120"/>
              </a:rPr>
              <a:t>네트워크</a:t>
            </a:r>
            <a:endParaRPr lang="en-US" sz="1150" dirty="0"/>
          </a:p>
        </p:txBody>
      </p:sp>
      <p:sp>
        <p:nvSpPr>
          <p:cNvPr id="11" name="Shape 9"/>
          <p:cNvSpPr/>
          <p:nvPr/>
        </p:nvSpPr>
        <p:spPr>
          <a:xfrm>
            <a:off x="566928" y="3182112"/>
            <a:ext cx="5212080" cy="768096"/>
          </a:xfrm>
          <a:prstGeom prst="roundRect">
            <a:avLst>
              <a:gd name="adj" fmla="val 5952"/>
            </a:avLst>
          </a:prstGeom>
          <a:solidFill>
            <a:srgbClr val="F2F5F6"/>
          </a:solidFill>
          <a:ln w="9525">
            <a:solidFill>
              <a:srgbClr val="D8DEE2"/>
            </a:solidFill>
            <a:prstDash val="solid"/>
          </a:ln>
        </p:spPr>
      </p:sp>
      <p:sp>
        <p:nvSpPr>
          <p:cNvPr id="12" name="Text 10"/>
          <p:cNvSpPr/>
          <p:nvPr/>
        </p:nvSpPr>
        <p:spPr>
          <a:xfrm>
            <a:off x="713232" y="3182112"/>
            <a:ext cx="1234440" cy="768096"/>
          </a:xfrm>
          <a:prstGeom prst="rect">
            <a:avLst/>
          </a:prstGeom>
          <a:noFill/>
          <a:ln/>
        </p:spPr>
        <p:txBody>
          <a:bodyPr wrap="square" lIns="0" tIns="0" rIns="0" bIns="0" rtlCol="0" anchor="ctr"/>
          <a:lstStyle/>
          <a:p>
            <a:pPr indent="0" marL="0">
              <a:buNone/>
            </a:pPr>
            <a:r>
              <a:rPr lang="en-US" sz="1300" b="1" dirty="0">
                <a:solidFill>
                  <a:srgbClr val="1B2429"/>
                </a:solidFill>
                <a:latin typeface="맑은 고딕" pitchFamily="34" charset="0"/>
                <a:ea typeface="맑은 고딕" pitchFamily="34" charset="-122"/>
                <a:cs typeface="맑은 고딕" pitchFamily="34" charset="-120"/>
              </a:rPr>
              <a:t>L4  연결</a:t>
            </a:r>
            <a:endParaRPr lang="en-US" sz="1300" dirty="0"/>
          </a:p>
        </p:txBody>
      </p:sp>
      <p:sp>
        <p:nvSpPr>
          <p:cNvPr id="13" name="Text 11"/>
          <p:cNvSpPr/>
          <p:nvPr/>
        </p:nvSpPr>
        <p:spPr>
          <a:xfrm>
            <a:off x="1984248" y="3182112"/>
            <a:ext cx="2286000" cy="768096"/>
          </a:xfrm>
          <a:prstGeom prst="rect">
            <a:avLst/>
          </a:prstGeom>
          <a:noFill/>
          <a:ln/>
        </p:spPr>
        <p:txBody>
          <a:bodyPr wrap="square" lIns="0" tIns="0" rIns="0" bIns="0" rtlCol="0" anchor="ctr"/>
          <a:lstStyle/>
          <a:p>
            <a:pPr indent="0" marL="0">
              <a:buNone/>
            </a:pPr>
            <a:r>
              <a:rPr lang="en-US" sz="1150" dirty="0">
                <a:solidFill>
                  <a:srgbClr val="3C4A52"/>
                </a:solidFill>
                <a:latin typeface="맑은 고딕" pitchFamily="34" charset="0"/>
                <a:ea typeface="맑은 고딕" pitchFamily="34" charset="-122"/>
                <a:cs typeface="맑은 고딕" pitchFamily="34" charset="-120"/>
              </a:rPr>
              <a:t>TCP·패킷 캡처</a:t>
            </a:r>
            <a:endParaRPr lang="en-US" sz="1150" dirty="0"/>
          </a:p>
        </p:txBody>
      </p:sp>
      <p:sp>
        <p:nvSpPr>
          <p:cNvPr id="14" name="Text 12"/>
          <p:cNvSpPr/>
          <p:nvPr/>
        </p:nvSpPr>
        <p:spPr>
          <a:xfrm>
            <a:off x="4270248" y="3182112"/>
            <a:ext cx="1371600" cy="768096"/>
          </a:xfrm>
          <a:prstGeom prst="rect">
            <a:avLst/>
          </a:prstGeom>
          <a:noFill/>
          <a:ln/>
        </p:spPr>
        <p:txBody>
          <a:bodyPr wrap="square" lIns="0" tIns="0" rIns="0" bIns="0" rtlCol="0" anchor="ctr"/>
          <a:lstStyle/>
          <a:p>
            <a:pPr algn="r" indent="0" marL="0">
              <a:buNone/>
            </a:pPr>
            <a:r>
              <a:rPr lang="en-US" sz="1150" b="1" dirty="0">
                <a:solidFill>
                  <a:srgbClr val="B33A32"/>
                </a:solidFill>
                <a:latin typeface="맑은 고딕" pitchFamily="34" charset="0"/>
                <a:ea typeface="맑은 고딕" pitchFamily="34" charset="-122"/>
                <a:cs typeface="맑은 고딕" pitchFamily="34" charset="-120"/>
              </a:rPr>
              <a:t>인프라</a:t>
            </a:r>
            <a:endParaRPr lang="en-US" sz="1150" dirty="0"/>
          </a:p>
        </p:txBody>
      </p:sp>
      <p:sp>
        <p:nvSpPr>
          <p:cNvPr id="15" name="Shape 13"/>
          <p:cNvSpPr/>
          <p:nvPr/>
        </p:nvSpPr>
        <p:spPr>
          <a:xfrm>
            <a:off x="566928" y="4114800"/>
            <a:ext cx="5212080" cy="768096"/>
          </a:xfrm>
          <a:prstGeom prst="roundRect">
            <a:avLst>
              <a:gd name="adj" fmla="val 5952"/>
            </a:avLst>
          </a:prstGeom>
          <a:solidFill>
            <a:srgbClr val="F2F5F6"/>
          </a:solidFill>
          <a:ln w="9525">
            <a:solidFill>
              <a:srgbClr val="D8DEE2"/>
            </a:solidFill>
            <a:prstDash val="solid"/>
          </a:ln>
        </p:spPr>
      </p:sp>
      <p:sp>
        <p:nvSpPr>
          <p:cNvPr id="16" name="Text 14"/>
          <p:cNvSpPr/>
          <p:nvPr/>
        </p:nvSpPr>
        <p:spPr>
          <a:xfrm>
            <a:off x="713232" y="4114800"/>
            <a:ext cx="1234440" cy="768096"/>
          </a:xfrm>
          <a:prstGeom prst="rect">
            <a:avLst/>
          </a:prstGeom>
          <a:noFill/>
          <a:ln/>
        </p:spPr>
        <p:txBody>
          <a:bodyPr wrap="square" lIns="0" tIns="0" rIns="0" bIns="0" rtlCol="0" anchor="ctr"/>
          <a:lstStyle/>
          <a:p>
            <a:pPr indent="0" marL="0">
              <a:buNone/>
            </a:pPr>
            <a:r>
              <a:rPr lang="en-US" sz="1300" b="1" dirty="0">
                <a:solidFill>
                  <a:srgbClr val="1B2429"/>
                </a:solidFill>
                <a:latin typeface="맑은 고딕" pitchFamily="34" charset="0"/>
                <a:ea typeface="맑은 고딕" pitchFamily="34" charset="-122"/>
                <a:cs typeface="맑은 고딕" pitchFamily="34" charset="-120"/>
              </a:rPr>
              <a:t>L7  응답</a:t>
            </a:r>
            <a:endParaRPr lang="en-US" sz="1300" dirty="0"/>
          </a:p>
        </p:txBody>
      </p:sp>
      <p:sp>
        <p:nvSpPr>
          <p:cNvPr id="17" name="Text 15"/>
          <p:cNvSpPr/>
          <p:nvPr/>
        </p:nvSpPr>
        <p:spPr>
          <a:xfrm>
            <a:off x="1984248" y="4114800"/>
            <a:ext cx="2286000" cy="768096"/>
          </a:xfrm>
          <a:prstGeom prst="rect">
            <a:avLst/>
          </a:prstGeom>
          <a:noFill/>
          <a:ln/>
        </p:spPr>
        <p:txBody>
          <a:bodyPr wrap="square" lIns="0" tIns="0" rIns="0" bIns="0" rtlCol="0" anchor="ctr"/>
          <a:lstStyle/>
          <a:p>
            <a:pPr indent="0" marL="0">
              <a:buNone/>
            </a:pPr>
            <a:r>
              <a:rPr lang="en-US" sz="1150" dirty="0">
                <a:solidFill>
                  <a:srgbClr val="3C4A52"/>
                </a:solidFill>
                <a:latin typeface="맑은 고딕" pitchFamily="34" charset="0"/>
                <a:ea typeface="맑은 고딕" pitchFamily="34" charset="-122"/>
                <a:cs typeface="맑은 고딕" pitchFamily="34" charset="-120"/>
              </a:rPr>
              <a:t>HTTP·앱 로그</a:t>
            </a:r>
            <a:endParaRPr lang="en-US" sz="1150" dirty="0"/>
          </a:p>
        </p:txBody>
      </p:sp>
      <p:sp>
        <p:nvSpPr>
          <p:cNvPr id="18" name="Text 16"/>
          <p:cNvSpPr/>
          <p:nvPr/>
        </p:nvSpPr>
        <p:spPr>
          <a:xfrm>
            <a:off x="4270248" y="4114800"/>
            <a:ext cx="1371600" cy="768096"/>
          </a:xfrm>
          <a:prstGeom prst="rect">
            <a:avLst/>
          </a:prstGeom>
          <a:noFill/>
          <a:ln/>
        </p:spPr>
        <p:txBody>
          <a:bodyPr wrap="square" lIns="0" tIns="0" rIns="0" bIns="0" rtlCol="0" anchor="ctr"/>
          <a:lstStyle/>
          <a:p>
            <a:pPr algn="r" indent="0" marL="0">
              <a:buNone/>
            </a:pPr>
            <a:r>
              <a:rPr lang="en-US" sz="1150" b="1" dirty="0">
                <a:solidFill>
                  <a:srgbClr val="B33A32"/>
                </a:solidFill>
                <a:latin typeface="맑은 고딕" pitchFamily="34" charset="0"/>
                <a:ea typeface="맑은 고딕" pitchFamily="34" charset="-122"/>
                <a:cs typeface="맑은 고딕" pitchFamily="34" charset="-120"/>
              </a:rPr>
              <a:t>개발</a:t>
            </a:r>
            <a:endParaRPr lang="en-US" sz="1150" dirty="0"/>
          </a:p>
        </p:txBody>
      </p:sp>
      <p:sp>
        <p:nvSpPr>
          <p:cNvPr id="19" name="Text 17"/>
          <p:cNvSpPr/>
          <p:nvPr/>
        </p:nvSpPr>
        <p:spPr>
          <a:xfrm>
            <a:off x="566928" y="5138928"/>
            <a:ext cx="5212080" cy="310896"/>
          </a:xfrm>
          <a:prstGeom prst="rect">
            <a:avLst/>
          </a:prstGeom>
          <a:noFill/>
          <a:ln/>
        </p:spPr>
        <p:txBody>
          <a:bodyPr wrap="square" lIns="0" tIns="0" rIns="0" bIns="0" rtlCol="0" anchor="ctr"/>
          <a:lstStyle/>
          <a:p>
            <a:pPr indent="0" marL="0">
              <a:buNone/>
            </a:pPr>
            <a:r>
              <a:rPr lang="en-US" sz="1150" i="1" dirty="0">
                <a:solidFill>
                  <a:srgbClr val="7A8A93"/>
                </a:solidFill>
                <a:latin typeface="맑은 고딕" pitchFamily="34" charset="0"/>
                <a:ea typeface="맑은 고딕" pitchFamily="34" charset="-122"/>
                <a:cs typeface="맑은 고딕" pitchFamily="34" charset="-120"/>
              </a:rPr>
              <a:t>계층 판단이 곧 책임 소재 판단이다</a:t>
            </a:r>
            <a:endParaRPr lang="en-US" sz="11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236208" y="1572768"/>
          <a:ext cx="5388559" cy="914400"/>
        </p:xfrm>
        <a:graphic>
          <a:graphicData uri="http://schemas.openxmlformats.org/drawingml/2006/table">
            <a:tbl>
              <a:tblPr/>
              <a:tblGrid>
                <a:gridCol w="2103120"/>
                <a:gridCol w="1188720"/>
                <a:gridCol w="2194560"/>
              </a:tblGrid>
              <a:tr h="310896">
                <a:tc>
                  <a:txBody>
                    <a:bodyPr/>
                    <a:lstStyle/>
                    <a:p>
                      <a:pPr indent="0" marL="0">
                        <a:buNone/>
                      </a:pPr>
                      <a:r>
                        <a:rPr lang="en-US" sz="1050" b="1" dirty="0">
                          <a:solidFill>
                            <a:srgbClr val="FFFFFF"/>
                          </a:solidFill>
                          <a:latin typeface="맑은 고딕" pitchFamily="34" charset="0"/>
                          <a:ea typeface="맑은 고딕" pitchFamily="34" charset="-122"/>
                          <a:cs typeface="맑은 고딕" pitchFamily="34" charset="-120"/>
                        </a:rPr>
                        <a:t>도메인</a:t>
                      </a:r>
                      <a:endParaRPr lang="en-US" sz="105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solidFill>
                      <a:srgbClr val="222E35"/>
                    </a:solidFill>
                  </a:tcPr>
                </a:tc>
                <a:tc>
                  <a:txBody>
                    <a:bodyPr/>
                    <a:lstStyle/>
                    <a:p>
                      <a:pPr indent="0" marL="0">
                        <a:buNone/>
                      </a:pPr>
                      <a:r>
                        <a:rPr lang="en-US" sz="1050" b="1" dirty="0">
                          <a:solidFill>
                            <a:srgbClr val="FFFFFF"/>
                          </a:solidFill>
                          <a:latin typeface="맑은 고딕" pitchFamily="34" charset="0"/>
                          <a:ea typeface="맑은 고딕" pitchFamily="34" charset="-122"/>
                          <a:cs typeface="맑은 고딕" pitchFamily="34" charset="-120"/>
                        </a:rPr>
                        <a:t>정답 상태</a:t>
                      </a:r>
                      <a:endParaRPr lang="en-US" sz="105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solidFill>
                      <a:srgbClr val="222E35"/>
                    </a:solidFill>
                  </a:tcPr>
                </a:tc>
                <a:tc>
                  <a:txBody>
                    <a:bodyPr/>
                    <a:lstStyle/>
                    <a:p>
                      <a:pPr indent="0" marL="0">
                        <a:buNone/>
                      </a:pPr>
                      <a:r>
                        <a:rPr lang="en-US" sz="1050" b="1" dirty="0">
                          <a:solidFill>
                            <a:srgbClr val="FFFFFF"/>
                          </a:solidFill>
                          <a:latin typeface="맑은 고딕" pitchFamily="34" charset="0"/>
                          <a:ea typeface="맑은 고딕" pitchFamily="34" charset="-122"/>
                          <a:cs typeface="맑은 고딕" pitchFamily="34" charset="-120"/>
                        </a:rPr>
                        <a:t>장애 후 판정</a:t>
                      </a:r>
                      <a:endParaRPr lang="en-US" sz="105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solidFill>
                      <a:srgbClr val="222E35"/>
                    </a:solidFill>
                  </a:tcPr>
                </a:tc>
              </a:tr>
              <a:tr h="310896">
                <a:tc>
                  <a:txBody>
                    <a:bodyPr/>
                    <a:lstStyle/>
                    <a:p>
                      <a:pPr indent="0" marL="0">
                        <a:buNone/>
                      </a:pPr>
                      <a:r>
                        <a:rPr lang="en-US" sz="1050" dirty="0">
                          <a:solidFill>
                            <a:srgbClr val="3C4A52"/>
                          </a:solidFill>
                          <a:latin typeface="맑은 고딕" pitchFamily="34" charset="0"/>
                          <a:ea typeface="맑은 고딕" pitchFamily="34" charset="-122"/>
                          <a:cs typeface="맑은 고딕" pitchFamily="34" charset="-120"/>
                        </a:rPr>
                        <a:t>게시판·URL 단축</a:t>
                      </a:r>
                      <a:endParaRPr lang="en-US" sz="105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050" dirty="0">
                          <a:solidFill>
                            <a:srgbClr val="3C4A52"/>
                          </a:solidFill>
                          <a:latin typeface="맑은 고딕" pitchFamily="34" charset="0"/>
                          <a:ea typeface="맑은 고딕" pitchFamily="34" charset="-122"/>
                          <a:cs typeface="맑은 고딕" pitchFamily="34" charset="-120"/>
                        </a:rPr>
                        <a:t>없음</a:t>
                      </a:r>
                      <a:endParaRPr lang="en-US" sz="105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050" dirty="0">
                          <a:solidFill>
                            <a:srgbClr val="3C4A52"/>
                          </a:solidFill>
                          <a:latin typeface="맑은 고딕" pitchFamily="34" charset="0"/>
                          <a:ea typeface="맑은 고딕" pitchFamily="34" charset="-122"/>
                          <a:cs typeface="맑은 고딕" pitchFamily="34" charset="-120"/>
                        </a:rPr>
                        <a:t>육안</a:t>
                      </a:r>
                      <a:endParaRPr lang="en-US" sz="105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r>
              <a:tr h="310896">
                <a:tc>
                  <a:txBody>
                    <a:bodyPr/>
                    <a:lstStyle/>
                    <a:p>
                      <a:pPr indent="0" marL="0">
                        <a:buNone/>
                      </a:pPr>
                      <a:r>
                        <a:rPr lang="en-US" sz="1050" dirty="0">
                          <a:solidFill>
                            <a:srgbClr val="3C4A52"/>
                          </a:solidFill>
                          <a:latin typeface="맑은 고딕" pitchFamily="34" charset="0"/>
                          <a:ea typeface="맑은 고딕" pitchFamily="34" charset="-122"/>
                          <a:cs typeface="맑은 고딕" pitchFamily="34" charset="-120"/>
                        </a:rPr>
                        <a:t>재고·예약</a:t>
                      </a:r>
                      <a:endParaRPr lang="en-US" sz="105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050" dirty="0">
                          <a:solidFill>
                            <a:srgbClr val="3C4A52"/>
                          </a:solidFill>
                          <a:latin typeface="맑은 고딕" pitchFamily="34" charset="0"/>
                          <a:ea typeface="맑은 고딕" pitchFamily="34" charset="-122"/>
                          <a:cs typeface="맑은 고딕" pitchFamily="34" charset="-120"/>
                        </a:rPr>
                        <a:t>부분</a:t>
                      </a:r>
                      <a:endParaRPr lang="en-US" sz="105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050" dirty="0">
                          <a:solidFill>
                            <a:srgbClr val="3C4A52"/>
                          </a:solidFill>
                          <a:latin typeface="맑은 고딕" pitchFamily="34" charset="0"/>
                          <a:ea typeface="맑은 고딕" pitchFamily="34" charset="-122"/>
                          <a:cs typeface="맑은 고딕" pitchFamily="34" charset="-120"/>
                        </a:rPr>
                        <a:t>단일 제약</a:t>
                      </a:r>
                      <a:endParaRPr lang="en-US" sz="105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r>
              <a:tr h="310896">
                <a:tc>
                  <a:txBody>
                    <a:bodyPr/>
                    <a:lstStyle/>
                    <a:p>
                      <a:pPr indent="0" marL="0">
                        <a:buNone/>
                      </a:pPr>
                      <a:r>
                        <a:rPr lang="en-US" sz="1050" dirty="0">
                          <a:solidFill>
                            <a:srgbClr val="3C4A52"/>
                          </a:solidFill>
                          <a:latin typeface="맑은 고딕" pitchFamily="34" charset="0"/>
                          <a:ea typeface="맑은 고딕" pitchFamily="34" charset="-122"/>
                          <a:cs typeface="맑은 고딕" pitchFamily="34" charset="-120"/>
                        </a:rPr>
                        <a:t>부하테스트 대상</a:t>
                      </a:r>
                      <a:endParaRPr lang="en-US" sz="105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050" dirty="0">
                          <a:solidFill>
                            <a:srgbClr val="3C4A52"/>
                          </a:solidFill>
                          <a:latin typeface="맑은 고딕" pitchFamily="34" charset="0"/>
                          <a:ea typeface="맑은 고딕" pitchFamily="34" charset="-122"/>
                          <a:cs typeface="맑은 고딕" pitchFamily="34" charset="-120"/>
                        </a:rPr>
                        <a:t>없음</a:t>
                      </a:r>
                      <a:endParaRPr lang="en-US" sz="105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050" dirty="0">
                          <a:solidFill>
                            <a:srgbClr val="3C4A52"/>
                          </a:solidFill>
                          <a:latin typeface="맑은 고딕" pitchFamily="34" charset="0"/>
                          <a:ea typeface="맑은 고딕" pitchFamily="34" charset="-122"/>
                          <a:cs typeface="맑은 고딕" pitchFamily="34" charset="-120"/>
                        </a:rPr>
                        <a:t>TPS·p99</a:t>
                      </a:r>
                      <a:endParaRPr lang="en-US" sz="105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r>
              <a:tr h="310896">
                <a:tc>
                  <a:txBody>
                    <a:bodyPr/>
                    <a:lstStyle/>
                    <a:p>
                      <a:pPr indent="0" marL="0">
                        <a:buNone/>
                      </a:pPr>
                      <a:r>
                        <a:rPr lang="en-US" sz="1050" dirty="0">
                          <a:solidFill>
                            <a:srgbClr val="3C4A52"/>
                          </a:solidFill>
                          <a:latin typeface="맑은 고딕" pitchFamily="34" charset="0"/>
                          <a:ea typeface="맑은 고딕" pitchFamily="34" charset="-122"/>
                          <a:cs typeface="맑은 고딕" pitchFamily="34" charset="-120"/>
                        </a:rPr>
                        <a:t>거래소 복식부기</a:t>
                      </a:r>
                      <a:endParaRPr lang="en-US" sz="105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050" dirty="0">
                          <a:solidFill>
                            <a:srgbClr val="3C4A52"/>
                          </a:solidFill>
                          <a:latin typeface="맑은 고딕" pitchFamily="34" charset="0"/>
                          <a:ea typeface="맑은 고딕" pitchFamily="34" charset="-122"/>
                          <a:cs typeface="맑은 고딕" pitchFamily="34" charset="-120"/>
                        </a:rPr>
                        <a:t>있음</a:t>
                      </a:r>
                      <a:endParaRPr lang="en-US" sz="105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050" dirty="0">
                          <a:solidFill>
                            <a:srgbClr val="3C4A52"/>
                          </a:solidFill>
                          <a:latin typeface="맑은 고딕" pitchFamily="34" charset="0"/>
                          <a:ea typeface="맑은 고딕" pitchFamily="34" charset="-122"/>
                          <a:cs typeface="맑은 고딕" pitchFamily="34" charset="-120"/>
                        </a:rPr>
                        <a:t>SQL 위반 행 수</a:t>
                      </a:r>
                      <a:endParaRPr lang="en-US" sz="105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r>
            </a:tbl>
          </a:graphicData>
        </a:graphic>
      </p:graphicFrame>
      <p:sp>
        <p:nvSpPr>
          <p:cNvPr id="21" name="Text 18"/>
          <p:cNvSpPr/>
          <p:nvPr/>
        </p:nvSpPr>
        <p:spPr>
          <a:xfrm>
            <a:off x="6236208" y="3611880"/>
            <a:ext cx="5388559" cy="1344168"/>
          </a:xfrm>
          <a:prstGeom prst="rect">
            <a:avLst/>
          </a:prstGeom>
          <a:noFill/>
          <a:ln/>
        </p:spPr>
        <p:txBody>
          <a:bodyPr wrap="square" lIns="0" tIns="0" rIns="0" bIns="0" rtlCol="0" anchor="ctr"/>
          <a:lstStyle/>
          <a:p>
            <a:pPr marL="342900" indent="-342900">
              <a:lnSpc>
                <a:spcPts val="2000"/>
              </a:lnSpc>
              <a:spcAft>
                <a:spcPts val="500"/>
              </a:spcAft>
              <a:buSzPct val="100000"/>
              <a:buChar char="–"/>
            </a:pPr>
            <a:r>
              <a:rPr lang="en-US" sz="1300" dirty="0">
                <a:solidFill>
                  <a:srgbClr val="3C4A52"/>
                </a:solidFill>
                <a:latin typeface="맑은 고딕" pitchFamily="34" charset="0"/>
                <a:ea typeface="맑은 고딕" pitchFamily="34" charset="-122"/>
                <a:cs typeface="맑은 고딕" pitchFamily="34" charset="-120"/>
              </a:rPr>
              <a:t>가용성 지표는 다시 200이 나오는 것까지만 말한다</a:t>
            </a:r>
            <a:endParaRPr lang="en-US" sz="1300" dirty="0"/>
          </a:p>
          <a:p>
            <a:pPr marL="342900" indent="-342900">
              <a:lnSpc>
                <a:spcPts val="2000"/>
              </a:lnSpc>
              <a:spcAft>
                <a:spcPts val="500"/>
              </a:spcAft>
              <a:buSzPct val="100000"/>
              <a:buChar char="–"/>
            </a:pPr>
            <a:r>
              <a:rPr lang="en-US" sz="1300" dirty="0">
                <a:solidFill>
                  <a:srgbClr val="3C4A52"/>
                </a:solidFill>
                <a:latin typeface="맑은 고딕" pitchFamily="34" charset="0"/>
                <a:ea typeface="맑은 고딕" pitchFamily="34" charset="-122"/>
                <a:cs typeface="맑은 고딕" pitchFamily="34" charset="-120"/>
              </a:rPr>
              <a:t>성능 지표는 느렸다까지만 말한다</a:t>
            </a:r>
            <a:endParaRPr lang="en-US" sz="1300" dirty="0"/>
          </a:p>
          <a:p>
            <a:pPr marL="342900" indent="-342900">
              <a:lnSpc>
                <a:spcPts val="2000"/>
              </a:lnSpc>
              <a:spcAft>
                <a:spcPts val="500"/>
              </a:spcAft>
              <a:buSzPct val="100000"/>
              <a:buChar char="–"/>
            </a:pPr>
            <a:r>
              <a:rPr lang="en-US" sz="1300" dirty="0">
                <a:solidFill>
                  <a:srgbClr val="3C4A52"/>
                </a:solidFill>
                <a:latin typeface="맑은 고딕" pitchFamily="34" charset="0"/>
                <a:ea typeface="맑은 고딕" pitchFamily="34" charset="-122"/>
                <a:cs typeface="맑은 고딕" pitchFamily="34" charset="-120"/>
              </a:rPr>
              <a:t>자산별 원장 합 0은 내가 정한 규칙이 아니라 회계 성립 조건이다</a:t>
            </a:r>
            <a:endParaRPr lang="en-US" sz="1300" dirty="0"/>
          </a:p>
          <a:p>
            <a:pPr marL="342900" indent="-342900">
              <a:lnSpc>
                <a:spcPts val="2000"/>
              </a:lnSpc>
              <a:spcAft>
                <a:spcPts val="500"/>
              </a:spcAft>
              <a:buSzPct val="100000"/>
              <a:buChar char="–"/>
            </a:pPr>
            <a:r>
              <a:rPr lang="en-US" sz="1300" dirty="0">
                <a:solidFill>
                  <a:srgbClr val="3C4A52"/>
                </a:solidFill>
                <a:latin typeface="맑은 고딕" pitchFamily="34" charset="0"/>
                <a:ea typeface="맑은 고딕" pitchFamily="34" charset="-122"/>
                <a:cs typeface="맑은 고딕" pitchFamily="34" charset="-120"/>
              </a:rPr>
              <a:t>틀리면 반드시 위반 행으로 드러난다</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1999" cy="566928"/>
          </a:xfrm>
          <a:prstGeom prst="rect">
            <a:avLst/>
          </a:prstGeom>
          <a:noFill/>
          <a:ln/>
        </p:spPr>
        <p:txBody>
          <a:bodyPr wrap="square" lIns="0" tIns="0" rIns="0" bIns="0" rtlCol="0" anchor="ctr"/>
          <a:lstStyle/>
          <a:p>
            <a:pPr indent="0" marL="0">
              <a:buNone/>
            </a:pPr>
            <a:r>
              <a:rPr lang="en-US" sz="3100" b="1" dirty="0">
                <a:solidFill>
                  <a:srgbClr val="1B2429"/>
                </a:solidFill>
                <a:latin typeface="맑은 고딕" pitchFamily="34" charset="0"/>
                <a:ea typeface="맑은 고딕" pitchFamily="34" charset="-122"/>
                <a:cs typeface="맑은 고딕" pitchFamily="34" charset="-120"/>
              </a:rPr>
              <a:t>증명 명제와 판정 방식</a:t>
            </a:r>
            <a:endParaRPr lang="en-US" sz="3100" dirty="0"/>
          </a:p>
        </p:txBody>
      </p:sp>
      <p:sp>
        <p:nvSpPr>
          <p:cNvPr id="3" name="Text 1"/>
          <p:cNvSpPr/>
          <p:nvPr/>
        </p:nvSpPr>
        <p:spPr>
          <a:xfrm>
            <a:off x="10847527" y="384048"/>
            <a:ext cx="777240" cy="566928"/>
          </a:xfrm>
          <a:prstGeom prst="rect">
            <a:avLst/>
          </a:prstGeom>
          <a:noFill/>
          <a:ln/>
        </p:spPr>
        <p:txBody>
          <a:bodyPr wrap="square" lIns="0" tIns="0" rIns="0" bIns="0" rtlCol="0" anchor="ctr"/>
          <a:lstStyle/>
          <a:p>
            <a:pPr algn="r" indent="0" marL="0">
              <a:buNone/>
            </a:pPr>
            <a:r>
              <a:rPr lang="en-US" sz="3100" b="1" dirty="0">
                <a:solidFill>
                  <a:srgbClr val="C9D2D7"/>
                </a:solidFill>
                <a:latin typeface="맑은 고딕" pitchFamily="34" charset="0"/>
                <a:ea typeface="맑은 고딕" pitchFamily="34" charset="-122"/>
                <a:cs typeface="맑은 고딕" pitchFamily="34" charset="-120"/>
              </a:rPr>
              <a:t>03</a:t>
            </a:r>
            <a:endParaRPr lang="en-US" sz="3100" dirty="0"/>
          </a:p>
        </p:txBody>
      </p:sp>
      <p:sp>
        <p:nvSpPr>
          <p:cNvPr id="4" name="Text 2"/>
          <p:cNvSpPr/>
          <p:nvPr/>
        </p:nvSpPr>
        <p:spPr>
          <a:xfrm>
            <a:off x="566928" y="969264"/>
            <a:ext cx="11057839" cy="384048"/>
          </a:xfrm>
          <a:prstGeom prst="rect">
            <a:avLst/>
          </a:prstGeom>
          <a:noFill/>
          <a:ln/>
        </p:spPr>
        <p:txBody>
          <a:bodyPr wrap="square" lIns="0" tIns="0" rIns="0" bIns="0" rtlCol="0" anchor="ctr"/>
          <a:lstStyle/>
          <a:p>
            <a:pPr indent="0" marL="0">
              <a:buNone/>
            </a:pPr>
            <a:r>
              <a:rPr lang="en-US" sz="1450" i="1" dirty="0">
                <a:solidFill>
                  <a:srgbClr val="3C4A52"/>
                </a:solidFill>
                <a:latin typeface="맑은 고딕" pitchFamily="34" charset="0"/>
                <a:ea typeface="맑은 고딕" pitchFamily="34" charset="-122"/>
                <a:cs typeface="맑은 고딕" pitchFamily="34" charset="-120"/>
              </a:rPr>
              <a:t>기능 목록이 아니라 반증 조건이 붙은 명제 두 개를 증명한다</a:t>
            </a:r>
            <a:endParaRPr lang="en-US" sz="1450" dirty="0"/>
          </a:p>
        </p:txBody>
      </p:sp>
      <p:sp>
        <p:nvSpPr>
          <p:cNvPr id="5" name="Shape 3"/>
          <p:cNvSpPr/>
          <p:nvPr/>
        </p:nvSpPr>
        <p:spPr>
          <a:xfrm>
            <a:off x="566928" y="1572768"/>
            <a:ext cx="5419192" cy="1444752"/>
          </a:xfrm>
          <a:prstGeom prst="roundRect">
            <a:avLst>
              <a:gd name="adj" fmla="val 3165"/>
            </a:avLst>
          </a:prstGeom>
          <a:solidFill>
            <a:srgbClr val="F2F5F6"/>
          </a:solidFill>
          <a:ln w="9525">
            <a:solidFill>
              <a:srgbClr val="D8DEE2"/>
            </a:solidFill>
            <a:prstDash val="solid"/>
          </a:ln>
        </p:spPr>
      </p:sp>
      <p:sp>
        <p:nvSpPr>
          <p:cNvPr id="6" name="Text 4"/>
          <p:cNvSpPr/>
          <p:nvPr/>
        </p:nvSpPr>
        <p:spPr>
          <a:xfrm>
            <a:off x="749808" y="1682496"/>
            <a:ext cx="5053432" cy="310896"/>
          </a:xfrm>
          <a:prstGeom prst="rect">
            <a:avLst/>
          </a:prstGeom>
          <a:noFill/>
          <a:ln/>
        </p:spPr>
        <p:txBody>
          <a:bodyPr wrap="square" lIns="0" tIns="0" rIns="0" bIns="0" rtlCol="0" anchor="ctr"/>
          <a:lstStyle/>
          <a:p>
            <a:pPr indent="0" marL="0">
              <a:buNone/>
            </a:pPr>
            <a:r>
              <a:rPr lang="en-US" sz="1400" b="1" dirty="0">
                <a:solidFill>
                  <a:srgbClr val="1B2429"/>
                </a:solidFill>
                <a:latin typeface="맑은 고딕" pitchFamily="34" charset="0"/>
                <a:ea typeface="맑은 고딕" pitchFamily="34" charset="-122"/>
                <a:cs typeface="맑은 고딕" pitchFamily="34" charset="-120"/>
              </a:rPr>
              <a:t>증명 ①  체결 무결</a:t>
            </a:r>
            <a:endParaRPr lang="en-US" sz="1400" dirty="0"/>
          </a:p>
        </p:txBody>
      </p:sp>
      <p:sp>
        <p:nvSpPr>
          <p:cNvPr id="7" name="Text 5"/>
          <p:cNvSpPr/>
          <p:nvPr/>
        </p:nvSpPr>
        <p:spPr>
          <a:xfrm>
            <a:off x="749808" y="2011680"/>
            <a:ext cx="5053432" cy="566928"/>
          </a:xfrm>
          <a:prstGeom prst="rect">
            <a:avLst/>
          </a:prstGeom>
          <a:noFill/>
          <a:ln/>
        </p:spPr>
        <p:txBody>
          <a:bodyPr wrap="square" lIns="0" tIns="0" rIns="0" bIns="0" rtlCol="0" anchor="ctr"/>
          <a:lstStyle/>
          <a:p>
            <a:pPr indent="0" marL="0">
              <a:lnSpc>
                <a:spcPts val="1700"/>
              </a:lnSpc>
              <a:buNone/>
            </a:pPr>
            <a:r>
              <a:rPr lang="en-US" sz="1150" dirty="0">
                <a:solidFill>
                  <a:srgbClr val="3C4A52"/>
                </a:solidFill>
                <a:latin typeface="맑은 고딕" pitchFamily="34" charset="0"/>
                <a:ea typeface="맑은 고딕" pitchFamily="34" charset="-122"/>
                <a:cs typeface="맑은 고딕" pitchFamily="34" charset="-120"/>
              </a:rPr>
              <a:t>자산별 원장 합 0</a:t>
            </a:r>
            <a:endParaRPr lang="en-US" sz="1150" dirty="0"/>
          </a:p>
          <a:p>
            <a:pPr indent="0" marL="0">
              <a:lnSpc>
                <a:spcPts val="1700"/>
              </a:lnSpc>
              <a:buNone/>
            </a:pPr>
            <a:r>
              <a:rPr lang="en-US" sz="1150" dirty="0">
                <a:solidFill>
                  <a:srgbClr val="3C4A52"/>
                </a:solidFill>
                <a:latin typeface="맑은 고딕" pitchFamily="34" charset="0"/>
                <a:ea typeface="맑은 고딕" pitchFamily="34" charset="-122"/>
                <a:cs typeface="맑은 고딕" pitchFamily="34" charset="-120"/>
              </a:rPr>
              <a:t>주문 중복 접수·중복 체결·유실 0</a:t>
            </a:r>
            <a:endParaRPr lang="en-US" sz="1150" dirty="0"/>
          </a:p>
        </p:txBody>
      </p:sp>
      <p:sp>
        <p:nvSpPr>
          <p:cNvPr id="8" name="Text 6"/>
          <p:cNvSpPr/>
          <p:nvPr/>
        </p:nvSpPr>
        <p:spPr>
          <a:xfrm>
            <a:off x="749808" y="2633472"/>
            <a:ext cx="5053432" cy="274320"/>
          </a:xfrm>
          <a:prstGeom prst="rect">
            <a:avLst/>
          </a:prstGeom>
          <a:noFill/>
          <a:ln/>
        </p:spPr>
        <p:txBody>
          <a:bodyPr wrap="square" lIns="0" tIns="0" rIns="0" bIns="0" rtlCol="0" anchor="ctr"/>
          <a:lstStyle/>
          <a:p>
            <a:pPr indent="0" marL="0">
              <a:buNone/>
            </a:pPr>
            <a:r>
              <a:rPr lang="en-US" sz="1050" dirty="0">
                <a:solidFill>
                  <a:srgbClr val="B33A32"/>
                </a:solidFill>
                <a:latin typeface="맑은 고딕" pitchFamily="34" charset="0"/>
                <a:ea typeface="맑은 고딕" pitchFamily="34" charset="-122"/>
                <a:cs typeface="맑은 고딕" pitchFamily="34" charset="-120"/>
              </a:rPr>
              <a:t>반증: 어느 한 술어라도 1행</a:t>
            </a:r>
            <a:endParaRPr lang="en-US" sz="1050" dirty="0"/>
          </a:p>
        </p:txBody>
      </p:sp>
      <p:sp>
        <p:nvSpPr>
          <p:cNvPr id="9" name="Shape 7"/>
          <p:cNvSpPr/>
          <p:nvPr/>
        </p:nvSpPr>
        <p:spPr>
          <a:xfrm>
            <a:off x="6205576" y="1572768"/>
            <a:ext cx="5419192" cy="1444752"/>
          </a:xfrm>
          <a:prstGeom prst="roundRect">
            <a:avLst>
              <a:gd name="adj" fmla="val 3165"/>
            </a:avLst>
          </a:prstGeom>
          <a:solidFill>
            <a:srgbClr val="F2F5F6"/>
          </a:solidFill>
          <a:ln w="9525">
            <a:solidFill>
              <a:srgbClr val="D8DEE2"/>
            </a:solidFill>
            <a:prstDash val="solid"/>
          </a:ln>
        </p:spPr>
      </p:sp>
      <p:sp>
        <p:nvSpPr>
          <p:cNvPr id="10" name="Text 8"/>
          <p:cNvSpPr/>
          <p:nvPr/>
        </p:nvSpPr>
        <p:spPr>
          <a:xfrm>
            <a:off x="6388456" y="1682496"/>
            <a:ext cx="5053432" cy="310896"/>
          </a:xfrm>
          <a:prstGeom prst="rect">
            <a:avLst/>
          </a:prstGeom>
          <a:noFill/>
          <a:ln/>
        </p:spPr>
        <p:txBody>
          <a:bodyPr wrap="square" lIns="0" tIns="0" rIns="0" bIns="0" rtlCol="0" anchor="ctr"/>
          <a:lstStyle/>
          <a:p>
            <a:pPr indent="0" marL="0">
              <a:buNone/>
            </a:pPr>
            <a:r>
              <a:rPr lang="en-US" sz="1400" b="1" dirty="0">
                <a:solidFill>
                  <a:srgbClr val="1B2429"/>
                </a:solidFill>
                <a:latin typeface="맑은 고딕" pitchFamily="34" charset="0"/>
                <a:ea typeface="맑은 고딕" pitchFamily="34" charset="-122"/>
                <a:cs typeface="맑은 고딕" pitchFamily="34" charset="-120"/>
              </a:rPr>
              <a:t>증명 ②  자동 복구</a:t>
            </a:r>
            <a:endParaRPr lang="en-US" sz="1400" dirty="0"/>
          </a:p>
        </p:txBody>
      </p:sp>
      <p:sp>
        <p:nvSpPr>
          <p:cNvPr id="11" name="Text 9"/>
          <p:cNvSpPr/>
          <p:nvPr/>
        </p:nvSpPr>
        <p:spPr>
          <a:xfrm>
            <a:off x="6388456" y="2011680"/>
            <a:ext cx="5053432" cy="566928"/>
          </a:xfrm>
          <a:prstGeom prst="rect">
            <a:avLst/>
          </a:prstGeom>
          <a:noFill/>
          <a:ln/>
        </p:spPr>
        <p:txBody>
          <a:bodyPr wrap="square" lIns="0" tIns="0" rIns="0" bIns="0" rtlCol="0" anchor="ctr"/>
          <a:lstStyle/>
          <a:p>
            <a:pPr indent="0" marL="0">
              <a:lnSpc>
                <a:spcPts val="1700"/>
              </a:lnSpc>
              <a:buNone/>
            </a:pPr>
            <a:r>
              <a:rPr lang="en-US" sz="1150" dirty="0">
                <a:solidFill>
                  <a:srgbClr val="3C4A52"/>
                </a:solidFill>
                <a:latin typeface="맑은 고딕" pitchFamily="34" charset="0"/>
                <a:ea typeface="맑은 고딕" pitchFamily="34" charset="-122"/>
                <a:cs typeface="맑은 고딕" pitchFamily="34" charset="-120"/>
              </a:rPr>
              <a:t>사람 개입 없이 승격·복구</a:t>
            </a:r>
            <a:endParaRPr lang="en-US" sz="1150" dirty="0"/>
          </a:p>
          <a:p>
            <a:pPr indent="0" marL="0">
              <a:lnSpc>
                <a:spcPts val="1700"/>
              </a:lnSpc>
              <a:buNone/>
            </a:pPr>
            <a:r>
              <a:rPr lang="en-US" sz="1150" dirty="0">
                <a:solidFill>
                  <a:srgbClr val="3C4A52"/>
                </a:solidFill>
                <a:latin typeface="맑은 고딕" pitchFamily="34" charset="0"/>
                <a:ea typeface="맑은 고딕" pitchFamily="34" charset="-122"/>
                <a:cs typeface="맑은 고딕" pitchFamily="34" charset="-120"/>
              </a:rPr>
              <a:t>RTO 30초 이내, epoch 정확히 +1</a:t>
            </a:r>
            <a:endParaRPr lang="en-US" sz="1150" dirty="0"/>
          </a:p>
        </p:txBody>
      </p:sp>
      <p:sp>
        <p:nvSpPr>
          <p:cNvPr id="12" name="Text 10"/>
          <p:cNvSpPr/>
          <p:nvPr/>
        </p:nvSpPr>
        <p:spPr>
          <a:xfrm>
            <a:off x="6388456" y="2633472"/>
            <a:ext cx="5053432" cy="274320"/>
          </a:xfrm>
          <a:prstGeom prst="rect">
            <a:avLst/>
          </a:prstGeom>
          <a:noFill/>
          <a:ln/>
        </p:spPr>
        <p:txBody>
          <a:bodyPr wrap="square" lIns="0" tIns="0" rIns="0" bIns="0" rtlCol="0" anchor="ctr"/>
          <a:lstStyle/>
          <a:p>
            <a:pPr indent="0" marL="0">
              <a:buNone/>
            </a:pPr>
            <a:r>
              <a:rPr lang="en-US" sz="1050" dirty="0">
                <a:solidFill>
                  <a:srgbClr val="B33A32"/>
                </a:solidFill>
                <a:latin typeface="맑은 고딕" pitchFamily="34" charset="0"/>
                <a:ea typeface="맑은 고딕" pitchFamily="34" charset="-122"/>
                <a:cs typeface="맑은 고딕" pitchFamily="34" charset="-120"/>
              </a:rPr>
              <a:t>반증: 30초 초과 또는 수동 개입</a:t>
            </a:r>
            <a:endParaRPr lang="en-US" sz="1050" dirty="0"/>
          </a:p>
        </p:txBody>
      </p:sp>
      <p:sp>
        <p:nvSpPr>
          <p:cNvPr id="13" name="Shape 11"/>
          <p:cNvSpPr/>
          <p:nvPr/>
        </p:nvSpPr>
        <p:spPr>
          <a:xfrm>
            <a:off x="566928" y="3200400"/>
            <a:ext cx="3557930" cy="420624"/>
          </a:xfrm>
          <a:prstGeom prst="roundRect">
            <a:avLst>
              <a:gd name="adj" fmla="val 17391"/>
            </a:avLst>
          </a:prstGeom>
          <a:solidFill>
            <a:srgbClr val="222E35"/>
          </a:solidFill>
          <a:ln/>
        </p:spPr>
      </p:sp>
      <p:sp>
        <p:nvSpPr>
          <p:cNvPr id="14" name="Text 12"/>
          <p:cNvSpPr/>
          <p:nvPr/>
        </p:nvSpPr>
        <p:spPr>
          <a:xfrm>
            <a:off x="566928" y="3200400"/>
            <a:ext cx="355793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SQL 위반 행 수</a:t>
            </a:r>
            <a:endParaRPr lang="en-US" sz="1200" dirty="0"/>
          </a:p>
        </p:txBody>
      </p:sp>
      <p:sp>
        <p:nvSpPr>
          <p:cNvPr id="15" name="Shape 13"/>
          <p:cNvSpPr/>
          <p:nvPr/>
        </p:nvSpPr>
        <p:spPr>
          <a:xfrm>
            <a:off x="4252874" y="3200400"/>
            <a:ext cx="3557930" cy="420624"/>
          </a:xfrm>
          <a:prstGeom prst="roundRect">
            <a:avLst>
              <a:gd name="adj" fmla="val 17391"/>
            </a:avLst>
          </a:prstGeom>
          <a:solidFill>
            <a:srgbClr val="222E35"/>
          </a:solidFill>
          <a:ln/>
        </p:spPr>
      </p:sp>
      <p:sp>
        <p:nvSpPr>
          <p:cNvPr id="16" name="Text 14"/>
          <p:cNvSpPr/>
          <p:nvPr/>
        </p:nvSpPr>
        <p:spPr>
          <a:xfrm>
            <a:off x="4252874" y="3200400"/>
            <a:ext cx="355793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메트릭 임계</a:t>
            </a:r>
            <a:endParaRPr lang="en-US" sz="1200" dirty="0"/>
          </a:p>
        </p:txBody>
      </p:sp>
      <p:sp>
        <p:nvSpPr>
          <p:cNvPr id="17" name="Shape 15"/>
          <p:cNvSpPr/>
          <p:nvPr/>
        </p:nvSpPr>
        <p:spPr>
          <a:xfrm>
            <a:off x="7938821" y="3200400"/>
            <a:ext cx="3557930" cy="420624"/>
          </a:xfrm>
          <a:prstGeom prst="roundRect">
            <a:avLst>
              <a:gd name="adj" fmla="val 17391"/>
            </a:avLst>
          </a:prstGeom>
          <a:solidFill>
            <a:srgbClr val="222E35"/>
          </a:solidFill>
          <a:ln/>
        </p:spPr>
      </p:sp>
      <p:sp>
        <p:nvSpPr>
          <p:cNvPr id="18" name="Text 16"/>
          <p:cNvSpPr/>
          <p:nvPr/>
        </p:nvSpPr>
        <p:spPr>
          <a:xfrm>
            <a:off x="7938821" y="3200400"/>
            <a:ext cx="355793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스크립트 exit code</a:t>
            </a:r>
            <a:endParaRPr lang="en-US" sz="1200" dirty="0"/>
          </a:p>
        </p:txBody>
      </p:sp>
      <p:sp>
        <p:nvSpPr>
          <p:cNvPr id="19" name="Text 17"/>
          <p:cNvSpPr/>
          <p:nvPr/>
        </p:nvSpPr>
        <p:spPr>
          <a:xfrm>
            <a:off x="566928" y="3694176"/>
            <a:ext cx="11057839" cy="274320"/>
          </a:xfrm>
          <a:prstGeom prst="rect">
            <a:avLst/>
          </a:prstGeom>
          <a:noFill/>
          <a:ln/>
        </p:spPr>
        <p:txBody>
          <a:bodyPr wrap="square" lIns="0" tIns="0" rIns="0" bIns="0" rtlCol="0" anchor="ctr"/>
          <a:lstStyle/>
          <a:p>
            <a:pPr indent="0" marL="0">
              <a:buNone/>
            </a:pPr>
            <a:r>
              <a:rPr lang="en-US" sz="1100" i="1" dirty="0">
                <a:solidFill>
                  <a:srgbClr val="7A8A93"/>
                </a:solidFill>
                <a:latin typeface="맑은 고딕" pitchFamily="34" charset="0"/>
                <a:ea typeface="맑은 고딕" pitchFamily="34" charset="-122"/>
                <a:cs typeface="맑은 고딕" pitchFamily="34" charset="-120"/>
              </a:rPr>
              <a:t>판정 주체는 사람 눈이 아니다</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4078224"/>
          <a:ext cx="11057839" cy="914400"/>
        </p:xfrm>
        <a:graphic>
          <a:graphicData uri="http://schemas.openxmlformats.org/drawingml/2006/table">
            <a:tbl>
              <a:tblPr/>
              <a:tblGrid>
                <a:gridCol w="3291840"/>
                <a:gridCol w="4663440"/>
                <a:gridCol w="3108960"/>
              </a:tblGrid>
              <a:tr h="310896">
                <a:tc>
                  <a:txBody>
                    <a:bodyPr/>
                    <a:lstStyle/>
                    <a:p>
                      <a:pPr indent="0" marL="0">
                        <a:buNone/>
                      </a:pPr>
                      <a:r>
                        <a:rPr lang="en-US" sz="1100" b="1" dirty="0">
                          <a:solidFill>
                            <a:srgbClr val="FFFFFF"/>
                          </a:solidFill>
                          <a:latin typeface="맑은 고딕" pitchFamily="34" charset="0"/>
                          <a:ea typeface="맑은 고딕" pitchFamily="34" charset="-122"/>
                          <a:cs typeface="맑은 고딕" pitchFamily="34" charset="-120"/>
                        </a:rPr>
                        <a:t>실험</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solidFill>
                      <a:srgbClr val="222E35"/>
                    </a:solidFill>
                  </a:tcPr>
                </a:tc>
                <a:tc>
                  <a:txBody>
                    <a:bodyPr/>
                    <a:lstStyle/>
                    <a:p>
                      <a:pPr indent="0" marL="0">
                        <a:buNone/>
                      </a:pPr>
                      <a:r>
                        <a:rPr lang="en-US" sz="1100" b="1" dirty="0">
                          <a:solidFill>
                            <a:srgbClr val="FFFFFF"/>
                          </a:solidFill>
                          <a:latin typeface="맑은 고딕" pitchFamily="34" charset="0"/>
                          <a:ea typeface="맑은 고딕" pitchFamily="34" charset="-122"/>
                          <a:cs typeface="맑은 고딕" pitchFamily="34" charset="-120"/>
                        </a:rPr>
                        <a:t>실측 RTO</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solidFill>
                      <a:srgbClr val="222E35"/>
                    </a:solidFill>
                  </a:tcPr>
                </a:tc>
                <a:tc>
                  <a:txBody>
                    <a:bodyPr/>
                    <a:lstStyle/>
                    <a:p>
                      <a:pPr indent="0" marL="0">
                        <a:buNone/>
                      </a:pPr>
                      <a:r>
                        <a:rPr lang="en-US" sz="1100" b="1" dirty="0">
                          <a:solidFill>
                            <a:srgbClr val="FFFFFF"/>
                          </a:solidFill>
                          <a:latin typeface="맑은 고딕" pitchFamily="34" charset="0"/>
                          <a:ea typeface="맑은 고딕" pitchFamily="34" charset="-122"/>
                          <a:cs typeface="맑은 고딕" pitchFamily="34" charset="-120"/>
                        </a:rPr>
                        <a:t>판정</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solidFill>
                      <a:srgbClr val="222E35"/>
                    </a:solidFill>
                  </a:tcPr>
                </a:tc>
              </a:tr>
              <a:tr h="310896">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E2  PG 단절</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5.116초</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PASS</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r>
              <a:tr h="310896">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E5  네트워크 분단</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10.041초</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PASS</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r>
              <a:tr h="310896">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E7  그레이 장애</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10.226초</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PASS</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r>
              <a:tr h="310896">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E4  리더 kill</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6.518초</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PASS</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r>
            </a:tbl>
          </a:graphicData>
        </a:graphic>
      </p:graphicFrame>
      <p:sp>
        <p:nvSpPr>
          <p:cNvPr id="21" name="Text 18"/>
          <p:cNvSpPr/>
          <p:nvPr/>
        </p:nvSpPr>
        <p:spPr>
          <a:xfrm>
            <a:off x="566928" y="5797296"/>
            <a:ext cx="11057839" cy="274320"/>
          </a:xfrm>
          <a:prstGeom prst="rect">
            <a:avLst/>
          </a:prstGeom>
          <a:noFill/>
          <a:ln/>
        </p:spPr>
        <p:txBody>
          <a:bodyPr wrap="square" lIns="0" tIns="0" rIns="0" bIns="0" rtlCol="0" anchor="ctr"/>
          <a:lstStyle/>
          <a:p>
            <a:pPr indent="0" marL="0">
              <a:buNone/>
            </a:pPr>
            <a:r>
              <a:rPr lang="en-US" sz="1100" dirty="0">
                <a:solidFill>
                  <a:srgbClr val="7A8A93"/>
                </a:solidFill>
                <a:latin typeface="맑은 고딕" pitchFamily="34" charset="0"/>
                <a:ea typeface="맑은 고딕" pitchFamily="34" charset="-122"/>
                <a:cs typeface="맑은 고딕" pitchFamily="34" charset="-120"/>
              </a:rPr>
              <a:t>불변식 27개 상시 검증 · 판정기 자체를 검증하는 반증 테스트 8건</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1999" cy="566928"/>
          </a:xfrm>
          <a:prstGeom prst="rect">
            <a:avLst/>
          </a:prstGeom>
          <a:noFill/>
          <a:ln/>
        </p:spPr>
        <p:txBody>
          <a:bodyPr wrap="square" lIns="0" tIns="0" rIns="0" bIns="0" rtlCol="0" anchor="ctr"/>
          <a:lstStyle/>
          <a:p>
            <a:pPr indent="0" marL="0">
              <a:buNone/>
            </a:pPr>
            <a:r>
              <a:rPr lang="en-US" sz="3100" b="1" dirty="0">
                <a:solidFill>
                  <a:srgbClr val="1B2429"/>
                </a:solidFill>
                <a:latin typeface="맑은 고딕" pitchFamily="34" charset="0"/>
                <a:ea typeface="맑은 고딕" pitchFamily="34" charset="-122"/>
                <a:cs typeface="맑은 고딕" pitchFamily="34" charset="-120"/>
              </a:rPr>
              <a:t>시스템 아키텍처</a:t>
            </a:r>
            <a:endParaRPr lang="en-US" sz="3100" dirty="0"/>
          </a:p>
        </p:txBody>
      </p:sp>
      <p:sp>
        <p:nvSpPr>
          <p:cNvPr id="3" name="Text 1"/>
          <p:cNvSpPr/>
          <p:nvPr/>
        </p:nvSpPr>
        <p:spPr>
          <a:xfrm>
            <a:off x="10847527" y="384048"/>
            <a:ext cx="777240" cy="566928"/>
          </a:xfrm>
          <a:prstGeom prst="rect">
            <a:avLst/>
          </a:prstGeom>
          <a:noFill/>
          <a:ln/>
        </p:spPr>
        <p:txBody>
          <a:bodyPr wrap="square" lIns="0" tIns="0" rIns="0" bIns="0" rtlCol="0" anchor="ctr"/>
          <a:lstStyle/>
          <a:p>
            <a:pPr algn="r" indent="0" marL="0">
              <a:buNone/>
            </a:pPr>
            <a:r>
              <a:rPr lang="en-US" sz="3100" b="1" dirty="0">
                <a:solidFill>
                  <a:srgbClr val="C9D2D7"/>
                </a:solidFill>
                <a:latin typeface="맑은 고딕" pitchFamily="34" charset="0"/>
                <a:ea typeface="맑은 고딕" pitchFamily="34" charset="-122"/>
                <a:cs typeface="맑은 고딕" pitchFamily="34" charset="-120"/>
              </a:rPr>
              <a:t>04</a:t>
            </a:r>
            <a:endParaRPr lang="en-US" sz="3100" dirty="0"/>
          </a:p>
        </p:txBody>
      </p:sp>
      <p:sp>
        <p:nvSpPr>
          <p:cNvPr id="4" name="Text 2"/>
          <p:cNvSpPr/>
          <p:nvPr/>
        </p:nvSpPr>
        <p:spPr>
          <a:xfrm>
            <a:off x="566928" y="969264"/>
            <a:ext cx="11057839" cy="384048"/>
          </a:xfrm>
          <a:prstGeom prst="rect">
            <a:avLst/>
          </a:prstGeom>
          <a:noFill/>
          <a:ln/>
        </p:spPr>
        <p:txBody>
          <a:bodyPr wrap="square" lIns="0" tIns="0" rIns="0" bIns="0" rtlCol="0" anchor="ctr"/>
          <a:lstStyle/>
          <a:p>
            <a:pPr indent="0" marL="0">
              <a:buNone/>
            </a:pPr>
            <a:r>
              <a:rPr lang="en-US" sz="1450" i="1" dirty="0">
                <a:solidFill>
                  <a:srgbClr val="3C4A52"/>
                </a:solidFill>
                <a:latin typeface="맑은 고딕" pitchFamily="34" charset="0"/>
                <a:ea typeface="맑은 고딕" pitchFamily="34" charset="-122"/>
                <a:cs typeface="맑은 고딕" pitchFamily="34" charset="-120"/>
              </a:rPr>
              <a:t>상시 접속 요건과 커널 장애 주입은 평면을 나눠야 동시에 성립한다</a:t>
            </a:r>
            <a:endParaRPr lang="en-US" sz="1450" dirty="0"/>
          </a:p>
        </p:txBody>
      </p:sp>
      <p:pic>
        <p:nvPicPr>
          <p:cNvPr id="5" name="Image 0" descr="시스템_아키텍처_슬라이드용.png">    </p:cNvPr>
          <p:cNvPicPr>
            <a:picLocks noChangeAspect="1"/>
          </p:cNvPicPr>
          <p:nvPr/>
        </p:nvPicPr>
        <p:blipFill>
          <a:blip r:embed="rId1"/>
          <a:stretch>
            <a:fillRect/>
          </a:stretch>
        </p:blipFill>
        <p:spPr>
          <a:xfrm>
            <a:off x="2020824" y="1426464"/>
            <a:ext cx="8156448" cy="51663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1999" cy="566928"/>
          </a:xfrm>
          <a:prstGeom prst="rect">
            <a:avLst/>
          </a:prstGeom>
          <a:noFill/>
          <a:ln/>
        </p:spPr>
        <p:txBody>
          <a:bodyPr wrap="square" lIns="0" tIns="0" rIns="0" bIns="0" rtlCol="0" anchor="ctr"/>
          <a:lstStyle/>
          <a:p>
            <a:pPr indent="0" marL="0">
              <a:buNone/>
            </a:pPr>
            <a:r>
              <a:rPr lang="en-US" sz="3100" b="1" dirty="0">
                <a:solidFill>
                  <a:srgbClr val="1B2429"/>
                </a:solidFill>
                <a:latin typeface="맑은 고딕" pitchFamily="34" charset="0"/>
                <a:ea typeface="맑은 고딕" pitchFamily="34" charset="-122"/>
                <a:cs typeface="맑은 고딕" pitchFamily="34" charset="-120"/>
              </a:rPr>
              <a:t>인프라와 배포 구성</a:t>
            </a:r>
            <a:endParaRPr lang="en-US" sz="3100" dirty="0"/>
          </a:p>
        </p:txBody>
      </p:sp>
      <p:sp>
        <p:nvSpPr>
          <p:cNvPr id="3" name="Text 1"/>
          <p:cNvSpPr/>
          <p:nvPr/>
        </p:nvSpPr>
        <p:spPr>
          <a:xfrm>
            <a:off x="10847527" y="384048"/>
            <a:ext cx="777240" cy="566928"/>
          </a:xfrm>
          <a:prstGeom prst="rect">
            <a:avLst/>
          </a:prstGeom>
          <a:noFill/>
          <a:ln/>
        </p:spPr>
        <p:txBody>
          <a:bodyPr wrap="square" lIns="0" tIns="0" rIns="0" bIns="0" rtlCol="0" anchor="ctr"/>
          <a:lstStyle/>
          <a:p>
            <a:pPr algn="r" indent="0" marL="0">
              <a:buNone/>
            </a:pPr>
            <a:r>
              <a:rPr lang="en-US" sz="3100" b="1" dirty="0">
                <a:solidFill>
                  <a:srgbClr val="C9D2D7"/>
                </a:solidFill>
                <a:latin typeface="맑은 고딕" pitchFamily="34" charset="0"/>
                <a:ea typeface="맑은 고딕" pitchFamily="34" charset="-122"/>
                <a:cs typeface="맑은 고딕" pitchFamily="34" charset="-120"/>
              </a:rPr>
              <a:t>05</a:t>
            </a:r>
            <a:endParaRPr lang="en-US" sz="3100" dirty="0"/>
          </a:p>
        </p:txBody>
      </p:sp>
      <p:sp>
        <p:nvSpPr>
          <p:cNvPr id="4" name="Text 2"/>
          <p:cNvSpPr/>
          <p:nvPr/>
        </p:nvSpPr>
        <p:spPr>
          <a:xfrm>
            <a:off x="566928" y="969264"/>
            <a:ext cx="11057839" cy="384048"/>
          </a:xfrm>
          <a:prstGeom prst="rect">
            <a:avLst/>
          </a:prstGeom>
          <a:noFill/>
          <a:ln/>
        </p:spPr>
        <p:txBody>
          <a:bodyPr wrap="square" lIns="0" tIns="0" rIns="0" bIns="0" rtlCol="0" anchor="ctr"/>
          <a:lstStyle/>
          <a:p>
            <a:pPr indent="0" marL="0">
              <a:buNone/>
            </a:pPr>
            <a:r>
              <a:rPr lang="en-US" sz="1450" i="1" dirty="0">
                <a:solidFill>
                  <a:srgbClr val="3C4A52"/>
                </a:solidFill>
                <a:latin typeface="맑은 고딕" pitchFamily="34" charset="0"/>
                <a:ea typeface="맑은 고딕" pitchFamily="34" charset="-122"/>
                <a:cs typeface="맑은 고딕" pitchFamily="34" charset="-120"/>
              </a:rPr>
              <a:t>상시 접속 요건과 파괴 실험은 평면을 나눠야 동시에 성립한다</a:t>
            </a:r>
            <a:endParaRPr lang="en-US" sz="1450" dirty="0"/>
          </a:p>
        </p:txBody>
      </p:sp>
      <p:sp>
        <p:nvSpPr>
          <p:cNvPr id="5" name="Shape 3"/>
          <p:cNvSpPr/>
          <p:nvPr/>
        </p:nvSpPr>
        <p:spPr>
          <a:xfrm>
            <a:off x="566928" y="1572768"/>
            <a:ext cx="11057839" cy="2304288"/>
          </a:xfrm>
          <a:prstGeom prst="roundRect">
            <a:avLst>
              <a:gd name="adj" fmla="val 1984"/>
            </a:avLst>
          </a:prstGeom>
          <a:solidFill>
            <a:srgbClr val="F2F5F6"/>
          </a:solidFill>
          <a:ln w="9525">
            <a:solidFill>
              <a:srgbClr val="D8DEE2"/>
            </a:solidFill>
            <a:prstDash val="solid"/>
          </a:ln>
        </p:spPr>
      </p:sp>
      <p:sp>
        <p:nvSpPr>
          <p:cNvPr id="6" name="Text 4"/>
          <p:cNvSpPr/>
          <p:nvPr/>
        </p:nvSpPr>
        <p:spPr>
          <a:xfrm>
            <a:off x="768096" y="1664208"/>
            <a:ext cx="2926080" cy="292608"/>
          </a:xfrm>
          <a:prstGeom prst="rect">
            <a:avLst/>
          </a:prstGeom>
          <a:noFill/>
          <a:ln/>
        </p:spPr>
        <p:txBody>
          <a:bodyPr wrap="square" lIns="0" tIns="0" rIns="0" bIns="0" rtlCol="0" anchor="ctr"/>
          <a:lstStyle/>
          <a:p>
            <a:pPr indent="0" marL="0">
              <a:buNone/>
            </a:pPr>
            <a:r>
              <a:rPr lang="en-US" sz="1250" b="1" dirty="0">
                <a:solidFill>
                  <a:srgbClr val="2F6B54"/>
                </a:solidFill>
                <a:latin typeface="맑은 고딕" pitchFamily="34" charset="0"/>
                <a:ea typeface="맑은 고딕" pitchFamily="34" charset="-122"/>
                <a:cs typeface="맑은 고딕" pitchFamily="34" charset="-120"/>
              </a:rPr>
              <a:t>상시면  24시간 구동</a:t>
            </a:r>
            <a:endParaRPr lang="en-US" sz="1250" dirty="0"/>
          </a:p>
        </p:txBody>
      </p:sp>
      <p:sp>
        <p:nvSpPr>
          <p:cNvPr id="7" name="Shape 5"/>
          <p:cNvSpPr/>
          <p:nvPr/>
        </p:nvSpPr>
        <p:spPr>
          <a:xfrm>
            <a:off x="841248" y="2084832"/>
            <a:ext cx="3291840" cy="420624"/>
          </a:xfrm>
          <a:prstGeom prst="roundRect">
            <a:avLst>
              <a:gd name="adj" fmla="val 13043"/>
            </a:avLst>
          </a:prstGeom>
          <a:solidFill>
            <a:srgbClr val="FFFFFF"/>
          </a:solidFill>
          <a:ln w="9525">
            <a:solidFill>
              <a:srgbClr val="D8DEE2"/>
            </a:solidFill>
            <a:prstDash val="solid"/>
          </a:ln>
        </p:spPr>
      </p:sp>
      <p:sp>
        <p:nvSpPr>
          <p:cNvPr id="8" name="Text 6"/>
          <p:cNvSpPr/>
          <p:nvPr/>
        </p:nvSpPr>
        <p:spPr>
          <a:xfrm>
            <a:off x="841248" y="2084832"/>
            <a:ext cx="3291840" cy="420624"/>
          </a:xfrm>
          <a:prstGeom prst="rect">
            <a:avLst/>
          </a:prstGeom>
          <a:noFill/>
          <a:ln/>
        </p:spPr>
        <p:txBody>
          <a:bodyPr wrap="square" lIns="0" tIns="0" rIns="0" bIns="0" rtlCol="0" anchor="ctr"/>
          <a:lstStyle/>
          <a:p>
            <a:pPr algn="ctr" indent="0" marL="0">
              <a:buNone/>
            </a:pPr>
            <a:r>
              <a:rPr lang="en-US" sz="1050" dirty="0">
                <a:solidFill>
                  <a:srgbClr val="3C4A52"/>
                </a:solidFill>
                <a:latin typeface="맑은 고딕" pitchFamily="34" charset="0"/>
                <a:ea typeface="맑은 고딕" pitchFamily="34" charset="-122"/>
                <a:cs typeface="맑은 고딕" pitchFamily="34" charset="-120"/>
              </a:rPr>
              <a:t>브라우저</a:t>
            </a:r>
            <a:endParaRPr lang="en-US" sz="1050" dirty="0"/>
          </a:p>
        </p:txBody>
      </p:sp>
      <p:sp>
        <p:nvSpPr>
          <p:cNvPr id="9" name="Shape 7"/>
          <p:cNvSpPr/>
          <p:nvPr/>
        </p:nvSpPr>
        <p:spPr>
          <a:xfrm>
            <a:off x="4498848" y="2084832"/>
            <a:ext cx="3291840" cy="420624"/>
          </a:xfrm>
          <a:prstGeom prst="roundRect">
            <a:avLst>
              <a:gd name="adj" fmla="val 13043"/>
            </a:avLst>
          </a:prstGeom>
          <a:solidFill>
            <a:srgbClr val="FFFFFF"/>
          </a:solidFill>
          <a:ln w="9525">
            <a:solidFill>
              <a:srgbClr val="D8DEE2"/>
            </a:solidFill>
            <a:prstDash val="solid"/>
          </a:ln>
        </p:spPr>
      </p:sp>
      <p:sp>
        <p:nvSpPr>
          <p:cNvPr id="10" name="Text 8"/>
          <p:cNvSpPr/>
          <p:nvPr/>
        </p:nvSpPr>
        <p:spPr>
          <a:xfrm>
            <a:off x="4498848" y="2084832"/>
            <a:ext cx="3291840" cy="420624"/>
          </a:xfrm>
          <a:prstGeom prst="rect">
            <a:avLst/>
          </a:prstGeom>
          <a:noFill/>
          <a:ln/>
        </p:spPr>
        <p:txBody>
          <a:bodyPr wrap="square" lIns="0" tIns="0" rIns="0" bIns="0" rtlCol="0" anchor="ctr"/>
          <a:lstStyle/>
          <a:p>
            <a:pPr algn="ctr" indent="0" marL="0">
              <a:buNone/>
            </a:pPr>
            <a:r>
              <a:rPr lang="en-US" sz="1050" dirty="0">
                <a:solidFill>
                  <a:srgbClr val="3C4A52"/>
                </a:solidFill>
                <a:latin typeface="맑은 고딕" pitchFamily="34" charset="0"/>
                <a:ea typeface="맑은 고딕" pitchFamily="34" charset="-122"/>
                <a:cs typeface="맑은 고딕" pitchFamily="34" charset="-120"/>
              </a:rPr>
              <a:t>CloudFront</a:t>
            </a:r>
            <a:endParaRPr lang="en-US" sz="1050" dirty="0"/>
          </a:p>
        </p:txBody>
      </p:sp>
      <p:sp>
        <p:nvSpPr>
          <p:cNvPr id="11" name="Shape 9"/>
          <p:cNvSpPr/>
          <p:nvPr/>
        </p:nvSpPr>
        <p:spPr>
          <a:xfrm>
            <a:off x="8156448" y="2084832"/>
            <a:ext cx="3291840" cy="420624"/>
          </a:xfrm>
          <a:prstGeom prst="roundRect">
            <a:avLst>
              <a:gd name="adj" fmla="val 13043"/>
            </a:avLst>
          </a:prstGeom>
          <a:solidFill>
            <a:srgbClr val="FFFFFF"/>
          </a:solidFill>
          <a:ln w="9525">
            <a:solidFill>
              <a:srgbClr val="D8DEE2"/>
            </a:solidFill>
            <a:prstDash val="solid"/>
          </a:ln>
        </p:spPr>
      </p:sp>
      <p:sp>
        <p:nvSpPr>
          <p:cNvPr id="12" name="Text 10"/>
          <p:cNvSpPr/>
          <p:nvPr/>
        </p:nvSpPr>
        <p:spPr>
          <a:xfrm>
            <a:off x="8156448" y="2084832"/>
            <a:ext cx="3291840" cy="420624"/>
          </a:xfrm>
          <a:prstGeom prst="rect">
            <a:avLst/>
          </a:prstGeom>
          <a:noFill/>
          <a:ln/>
        </p:spPr>
        <p:txBody>
          <a:bodyPr wrap="square" lIns="0" tIns="0" rIns="0" bIns="0" rtlCol="0" anchor="ctr"/>
          <a:lstStyle/>
          <a:p>
            <a:pPr algn="ctr" indent="0" marL="0">
              <a:buNone/>
            </a:pPr>
            <a:r>
              <a:rPr lang="en-US" sz="1050" dirty="0">
                <a:solidFill>
                  <a:srgbClr val="3C4A52"/>
                </a:solidFill>
                <a:latin typeface="맑은 고딕" pitchFamily="34" charset="0"/>
                <a:ea typeface="맑은 고딕" pitchFamily="34" charset="-122"/>
                <a:cs typeface="맑은 고딕" pitchFamily="34" charset="-120"/>
              </a:rPr>
              <a:t>S3 · 정적 오리진</a:t>
            </a:r>
            <a:endParaRPr lang="en-US" sz="1050" dirty="0"/>
          </a:p>
        </p:txBody>
      </p:sp>
      <p:sp>
        <p:nvSpPr>
          <p:cNvPr id="13" name="Shape 11"/>
          <p:cNvSpPr/>
          <p:nvPr/>
        </p:nvSpPr>
        <p:spPr>
          <a:xfrm>
            <a:off x="4498848" y="2615184"/>
            <a:ext cx="3291840" cy="420624"/>
          </a:xfrm>
          <a:prstGeom prst="roundRect">
            <a:avLst>
              <a:gd name="adj" fmla="val 13043"/>
            </a:avLst>
          </a:prstGeom>
          <a:solidFill>
            <a:srgbClr val="FFFFFF"/>
          </a:solidFill>
          <a:ln w="9525">
            <a:solidFill>
              <a:srgbClr val="D8DEE2"/>
            </a:solidFill>
            <a:prstDash val="solid"/>
          </a:ln>
        </p:spPr>
      </p:sp>
      <p:sp>
        <p:nvSpPr>
          <p:cNvPr id="14" name="Text 12"/>
          <p:cNvSpPr/>
          <p:nvPr/>
        </p:nvSpPr>
        <p:spPr>
          <a:xfrm>
            <a:off x="4498848" y="2615184"/>
            <a:ext cx="3291840" cy="420624"/>
          </a:xfrm>
          <a:prstGeom prst="rect">
            <a:avLst/>
          </a:prstGeom>
          <a:noFill/>
          <a:ln/>
        </p:spPr>
        <p:txBody>
          <a:bodyPr wrap="square" lIns="0" tIns="0" rIns="0" bIns="0" rtlCol="0" anchor="ctr"/>
          <a:lstStyle/>
          <a:p>
            <a:pPr algn="ctr" indent="0" marL="0">
              <a:buNone/>
            </a:pPr>
            <a:r>
              <a:rPr lang="en-US" sz="1050" dirty="0">
                <a:solidFill>
                  <a:srgbClr val="3C4A52"/>
                </a:solidFill>
                <a:latin typeface="맑은 고딕" pitchFamily="34" charset="0"/>
                <a:ea typeface="맑은 고딕" pitchFamily="34" charset="-122"/>
                <a:cs typeface="맑은 고딕" pitchFamily="34" charset="-120"/>
              </a:rPr>
              <a:t>오리진 2개 분기</a:t>
            </a:r>
            <a:endParaRPr lang="en-US" sz="1050" dirty="0"/>
          </a:p>
        </p:txBody>
      </p:sp>
      <p:sp>
        <p:nvSpPr>
          <p:cNvPr id="15" name="Shape 13"/>
          <p:cNvSpPr/>
          <p:nvPr/>
        </p:nvSpPr>
        <p:spPr>
          <a:xfrm>
            <a:off x="8156448" y="2615184"/>
            <a:ext cx="3291840" cy="420624"/>
          </a:xfrm>
          <a:prstGeom prst="roundRect">
            <a:avLst>
              <a:gd name="adj" fmla="val 13043"/>
            </a:avLst>
          </a:prstGeom>
          <a:solidFill>
            <a:srgbClr val="FFFFFF"/>
          </a:solidFill>
          <a:ln w="9525">
            <a:solidFill>
              <a:srgbClr val="D8DEE2"/>
            </a:solidFill>
            <a:prstDash val="solid"/>
          </a:ln>
        </p:spPr>
      </p:sp>
      <p:sp>
        <p:nvSpPr>
          <p:cNvPr id="16" name="Text 14"/>
          <p:cNvSpPr/>
          <p:nvPr/>
        </p:nvSpPr>
        <p:spPr>
          <a:xfrm>
            <a:off x="8156448" y="2615184"/>
            <a:ext cx="3291840" cy="420624"/>
          </a:xfrm>
          <a:prstGeom prst="rect">
            <a:avLst/>
          </a:prstGeom>
          <a:noFill/>
          <a:ln/>
        </p:spPr>
        <p:txBody>
          <a:bodyPr wrap="square" lIns="0" tIns="0" rIns="0" bIns="0" rtlCol="0" anchor="ctr"/>
          <a:lstStyle/>
          <a:p>
            <a:pPr algn="ctr" indent="0" marL="0">
              <a:buNone/>
            </a:pPr>
            <a:r>
              <a:rPr lang="en-US" sz="1050" dirty="0">
                <a:solidFill>
                  <a:srgbClr val="3C4A52"/>
                </a:solidFill>
                <a:latin typeface="맑은 고딕" pitchFamily="34" charset="0"/>
                <a:ea typeface="맑은 고딕" pitchFamily="34" charset="-122"/>
                <a:cs typeface="맑은 고딕" pitchFamily="34" charset="-120"/>
              </a:rPr>
              <a:t>ALB · 동적 오리진 · 2 AZ</a:t>
            </a:r>
            <a:endParaRPr lang="en-US" sz="1050" dirty="0"/>
          </a:p>
        </p:txBody>
      </p:sp>
      <p:sp>
        <p:nvSpPr>
          <p:cNvPr id="17" name="Shape 15"/>
          <p:cNvSpPr/>
          <p:nvPr/>
        </p:nvSpPr>
        <p:spPr>
          <a:xfrm>
            <a:off x="8156448" y="3145536"/>
            <a:ext cx="3291840" cy="420624"/>
          </a:xfrm>
          <a:prstGeom prst="roundRect">
            <a:avLst>
              <a:gd name="adj" fmla="val 13043"/>
            </a:avLst>
          </a:prstGeom>
          <a:solidFill>
            <a:srgbClr val="FFFFFF"/>
          </a:solidFill>
          <a:ln w="9525">
            <a:solidFill>
              <a:srgbClr val="D8DEE2"/>
            </a:solidFill>
            <a:prstDash val="solid"/>
          </a:ln>
        </p:spPr>
      </p:sp>
      <p:sp>
        <p:nvSpPr>
          <p:cNvPr id="18" name="Text 16"/>
          <p:cNvSpPr/>
          <p:nvPr/>
        </p:nvSpPr>
        <p:spPr>
          <a:xfrm>
            <a:off x="8156448" y="3145536"/>
            <a:ext cx="3291840" cy="420624"/>
          </a:xfrm>
          <a:prstGeom prst="rect">
            <a:avLst/>
          </a:prstGeom>
          <a:noFill/>
          <a:ln/>
        </p:spPr>
        <p:txBody>
          <a:bodyPr wrap="square" lIns="0" tIns="0" rIns="0" bIns="0" rtlCol="0" anchor="ctr"/>
          <a:lstStyle/>
          <a:p>
            <a:pPr algn="ctr" indent="0" marL="0">
              <a:buNone/>
            </a:pPr>
            <a:r>
              <a:rPr lang="en-US" sz="1050" dirty="0">
                <a:solidFill>
                  <a:srgbClr val="3C4A52"/>
                </a:solidFill>
                <a:latin typeface="맑은 고딕" pitchFamily="34" charset="0"/>
                <a:ea typeface="맑은 고딕" pitchFamily="34" charset="-122"/>
                <a:cs typeface="맑은 고딕" pitchFamily="34" charset="-120"/>
              </a:rPr>
              <a:t>app x2 · PostgreSQL primary/standby</a:t>
            </a:r>
            <a:endParaRPr lang="en-US" sz="1050" dirty="0"/>
          </a:p>
        </p:txBody>
      </p:sp>
      <p:sp>
        <p:nvSpPr>
          <p:cNvPr id="19" name="Shape 17"/>
          <p:cNvSpPr/>
          <p:nvPr/>
        </p:nvSpPr>
        <p:spPr>
          <a:xfrm>
            <a:off x="4187952" y="2295144"/>
            <a:ext cx="256032" cy="0"/>
          </a:xfrm>
          <a:prstGeom prst="line">
            <a:avLst/>
          </a:prstGeom>
          <a:noFill/>
          <a:ln w="15875">
            <a:solidFill>
              <a:srgbClr val="7A8A93"/>
            </a:solidFill>
            <a:prstDash val="solid"/>
            <a:tailEnd type="triangle"/>
          </a:ln>
        </p:spPr>
      </p:sp>
      <p:sp>
        <p:nvSpPr>
          <p:cNvPr id="20" name="Shape 18"/>
          <p:cNvSpPr/>
          <p:nvPr/>
        </p:nvSpPr>
        <p:spPr>
          <a:xfrm>
            <a:off x="7845552" y="2295144"/>
            <a:ext cx="256032" cy="0"/>
          </a:xfrm>
          <a:prstGeom prst="line">
            <a:avLst/>
          </a:prstGeom>
          <a:noFill/>
          <a:ln w="15875">
            <a:solidFill>
              <a:srgbClr val="7A8A93"/>
            </a:solidFill>
            <a:prstDash val="solid"/>
            <a:tailEnd type="triangle"/>
          </a:ln>
        </p:spPr>
      </p:sp>
      <p:sp>
        <p:nvSpPr>
          <p:cNvPr id="21" name="Shape 19"/>
          <p:cNvSpPr/>
          <p:nvPr/>
        </p:nvSpPr>
        <p:spPr>
          <a:xfrm>
            <a:off x="566928" y="4059936"/>
            <a:ext cx="11057839" cy="1060704"/>
          </a:xfrm>
          <a:prstGeom prst="roundRect">
            <a:avLst>
              <a:gd name="adj" fmla="val 5172"/>
            </a:avLst>
          </a:prstGeom>
          <a:solidFill>
            <a:srgbClr val="FAFAFA"/>
          </a:solidFill>
          <a:ln w="12700">
            <a:solidFill>
              <a:srgbClr val="7A8A93"/>
            </a:solidFill>
            <a:prstDash val="dash"/>
          </a:ln>
        </p:spPr>
      </p:sp>
      <p:sp>
        <p:nvSpPr>
          <p:cNvPr id="22" name="Text 20"/>
          <p:cNvSpPr/>
          <p:nvPr/>
        </p:nvSpPr>
        <p:spPr>
          <a:xfrm>
            <a:off x="768096" y="4169664"/>
            <a:ext cx="4114800" cy="274320"/>
          </a:xfrm>
          <a:prstGeom prst="rect">
            <a:avLst/>
          </a:prstGeom>
          <a:noFill/>
          <a:ln/>
        </p:spPr>
        <p:txBody>
          <a:bodyPr wrap="square" lIns="0" tIns="0" rIns="0" bIns="0" rtlCol="0" anchor="ctr"/>
          <a:lstStyle/>
          <a:p>
            <a:pPr indent="0" marL="0">
              <a:buNone/>
            </a:pPr>
            <a:r>
              <a:rPr lang="en-US" sz="1250" b="1" dirty="0">
                <a:solidFill>
                  <a:srgbClr val="B33A32"/>
                </a:solidFill>
                <a:latin typeface="맑은 고딕" pitchFamily="34" charset="0"/>
                <a:ea typeface="맑은 고딕" pitchFamily="34" charset="-122"/>
                <a:cs typeface="맑은 고딕" pitchFamily="34" charset="-120"/>
              </a:rPr>
              <a:t>증명면  부하 창에만 구동 후 파기</a:t>
            </a:r>
            <a:endParaRPr lang="en-US" sz="1250" dirty="0"/>
          </a:p>
        </p:txBody>
      </p:sp>
      <p:sp>
        <p:nvSpPr>
          <p:cNvPr id="23" name="Text 21"/>
          <p:cNvSpPr/>
          <p:nvPr/>
        </p:nvSpPr>
        <p:spPr>
          <a:xfrm>
            <a:off x="768096" y="4535424"/>
            <a:ext cx="10655503" cy="457200"/>
          </a:xfrm>
          <a:prstGeom prst="rect">
            <a:avLst/>
          </a:prstGeom>
          <a:noFill/>
          <a:ln/>
        </p:spPr>
        <p:txBody>
          <a:bodyPr wrap="square" lIns="0" tIns="0" rIns="0" bIns="0" rtlCol="0" anchor="ctr"/>
          <a:lstStyle/>
          <a:p>
            <a:pPr indent="0" marL="0">
              <a:buNone/>
            </a:pPr>
            <a:r>
              <a:rPr lang="en-US" sz="1150" dirty="0">
                <a:solidFill>
                  <a:srgbClr val="3C4A52"/>
                </a:solidFill>
                <a:latin typeface="맑은 고딕" pitchFamily="34" charset="0"/>
                <a:ea typeface="맑은 고딕" pitchFamily="34" charset="-122"/>
                <a:cs typeface="맑은 고딕" pitchFamily="34" charset="-120"/>
              </a:rPr>
              <a:t>load c7g.large 단독   =  달력 월 45시간 예산 · USD 0.0816 /hr. app-2 와 pg-standby 는 상시면으로 올라갔다</a:t>
            </a:r>
            <a:endParaRPr lang="en-US" sz="1150" dirty="0"/>
          </a:p>
        </p:txBody>
      </p:sp>
      <p:sp>
        <p:nvSpPr>
          <p:cNvPr id="24" name="Text 22"/>
          <p:cNvSpPr/>
          <p:nvPr/>
        </p:nvSpPr>
        <p:spPr>
          <a:xfrm>
            <a:off x="566928" y="5358384"/>
            <a:ext cx="11057839" cy="1088136"/>
          </a:xfrm>
          <a:prstGeom prst="rect">
            <a:avLst/>
          </a:prstGeom>
          <a:noFill/>
          <a:ln/>
        </p:spPr>
        <p:txBody>
          <a:bodyPr wrap="square" lIns="0" tIns="0" rIns="0" bIns="0" rtlCol="0" anchor="ctr"/>
          <a:lstStyle/>
          <a:p>
            <a:pPr marL="342900" indent="-342900">
              <a:lnSpc>
                <a:spcPts val="2000"/>
              </a:lnSpc>
              <a:spcAft>
                <a:spcPts val="500"/>
              </a:spcAft>
              <a:buSzPct val="100000"/>
              <a:buChar char="–"/>
            </a:pPr>
            <a:r>
              <a:rPr lang="en-US" sz="1250" dirty="0">
                <a:solidFill>
                  <a:srgbClr val="3C4A52"/>
                </a:solidFill>
                <a:latin typeface="맑은 고딕" pitchFamily="34" charset="0"/>
                <a:ea typeface="맑은 고딕" pitchFamily="34" charset="-122"/>
                <a:cs typeface="맑은 고딕" pitchFamily="34" charset="-120"/>
              </a:rPr>
              <a:t>ALB 채택. 앱의 readiness 503 을 그대로 읽어 팔로워가 스스로 빠진다</a:t>
            </a:r>
            <a:endParaRPr lang="en-US" sz="1250" dirty="0"/>
          </a:p>
          <a:p>
            <a:pPr marL="342900" indent="-342900">
              <a:lnSpc>
                <a:spcPts val="2000"/>
              </a:lnSpc>
              <a:spcAft>
                <a:spcPts val="500"/>
              </a:spcAft>
              <a:buSzPct val="100000"/>
              <a:buChar char="–"/>
            </a:pPr>
            <a:r>
              <a:rPr lang="en-US" sz="1250" dirty="0">
                <a:solidFill>
                  <a:srgbClr val="3C4A52"/>
                </a:solidFill>
                <a:latin typeface="맑은 고딕" pitchFamily="34" charset="0"/>
                <a:ea typeface="맑은 고딕" pitchFamily="34" charset="-122"/>
                <a:cs typeface="맑은 고딕" pitchFamily="34" charset="-120"/>
              </a:rPr>
              <a:t>RDS 비채택. 복제 링크에 주입할 권한이 없으면 증명 밖으로 나간다</a:t>
            </a:r>
            <a:endParaRPr lang="en-US" sz="1250" dirty="0"/>
          </a:p>
          <a:p>
            <a:pPr marL="342900" indent="-342900">
              <a:lnSpc>
                <a:spcPts val="2000"/>
              </a:lnSpc>
              <a:spcAft>
                <a:spcPts val="500"/>
              </a:spcAft>
              <a:buSzPct val="100000"/>
              <a:buChar char="–"/>
            </a:pPr>
            <a:r>
              <a:rPr lang="en-US" sz="1250" dirty="0">
                <a:solidFill>
                  <a:srgbClr val="3C4A52"/>
                </a:solidFill>
                <a:latin typeface="맑은 고딕" pitchFamily="34" charset="0"/>
                <a:ea typeface="맑은 고딕" pitchFamily="34" charset="-122"/>
                <a:cs typeface="맑은 고딕" pitchFamily="34" charset="-120"/>
              </a:rPr>
              <a:t>SSH 미개방. SSM 세션 단독. 커널 주입은 온프레미스 검증면 전용</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1999" cy="566928"/>
          </a:xfrm>
          <a:prstGeom prst="rect">
            <a:avLst/>
          </a:prstGeom>
          <a:noFill/>
          <a:ln/>
        </p:spPr>
        <p:txBody>
          <a:bodyPr wrap="square" lIns="0" tIns="0" rIns="0" bIns="0" rtlCol="0" anchor="ctr"/>
          <a:lstStyle/>
          <a:p>
            <a:pPr indent="0" marL="0">
              <a:buNone/>
            </a:pPr>
            <a:r>
              <a:rPr lang="en-US" sz="3100" b="1" dirty="0">
                <a:solidFill>
                  <a:srgbClr val="1B2429"/>
                </a:solidFill>
                <a:latin typeface="맑은 고딕" pitchFamily="34" charset="0"/>
                <a:ea typeface="맑은 고딕" pitchFamily="34" charset="-122"/>
                <a:cs typeface="맑은 고딕" pitchFamily="34" charset="-120"/>
              </a:rPr>
              <a:t>운영 · 보안 · 비용</a:t>
            </a:r>
            <a:endParaRPr lang="en-US" sz="3100" dirty="0"/>
          </a:p>
        </p:txBody>
      </p:sp>
      <p:sp>
        <p:nvSpPr>
          <p:cNvPr id="3" name="Text 1"/>
          <p:cNvSpPr/>
          <p:nvPr/>
        </p:nvSpPr>
        <p:spPr>
          <a:xfrm>
            <a:off x="10847527" y="384048"/>
            <a:ext cx="777240" cy="566928"/>
          </a:xfrm>
          <a:prstGeom prst="rect">
            <a:avLst/>
          </a:prstGeom>
          <a:noFill/>
          <a:ln/>
        </p:spPr>
        <p:txBody>
          <a:bodyPr wrap="square" lIns="0" tIns="0" rIns="0" bIns="0" rtlCol="0" anchor="ctr"/>
          <a:lstStyle/>
          <a:p>
            <a:pPr algn="r" indent="0" marL="0">
              <a:buNone/>
            </a:pPr>
            <a:r>
              <a:rPr lang="en-US" sz="3100" b="1" dirty="0">
                <a:solidFill>
                  <a:srgbClr val="C9D2D7"/>
                </a:solidFill>
                <a:latin typeface="맑은 고딕" pitchFamily="34" charset="0"/>
                <a:ea typeface="맑은 고딕" pitchFamily="34" charset="-122"/>
                <a:cs typeface="맑은 고딕" pitchFamily="34" charset="-120"/>
              </a:rPr>
              <a:t>06</a:t>
            </a:r>
            <a:endParaRPr lang="en-US" sz="3100" dirty="0"/>
          </a:p>
        </p:txBody>
      </p:sp>
      <p:sp>
        <p:nvSpPr>
          <p:cNvPr id="4" name="Text 2"/>
          <p:cNvSpPr/>
          <p:nvPr/>
        </p:nvSpPr>
        <p:spPr>
          <a:xfrm>
            <a:off x="566928" y="969264"/>
            <a:ext cx="11057839" cy="384048"/>
          </a:xfrm>
          <a:prstGeom prst="rect">
            <a:avLst/>
          </a:prstGeom>
          <a:noFill/>
          <a:ln/>
        </p:spPr>
        <p:txBody>
          <a:bodyPr wrap="square" lIns="0" tIns="0" rIns="0" bIns="0" rtlCol="0" anchor="ctr"/>
          <a:lstStyle/>
          <a:p>
            <a:pPr indent="0" marL="0">
              <a:buNone/>
            </a:pPr>
            <a:r>
              <a:rPr lang="en-US" sz="1450" i="1" dirty="0">
                <a:solidFill>
                  <a:srgbClr val="3C4A52"/>
                </a:solidFill>
                <a:latin typeface="맑은 고딕" pitchFamily="34" charset="0"/>
                <a:ea typeface="맑은 고딕" pitchFamily="34" charset="-122"/>
                <a:cs typeface="맑은 고딕" pitchFamily="34" charset="-120"/>
              </a:rPr>
              <a:t>설정했다는 말은 증거가 아니고 거부 코드가 나온 기록만 증거다</a:t>
            </a:r>
            <a:endParaRPr lang="en-US" sz="1450" dirty="0"/>
          </a:p>
        </p:txBody>
      </p:sp>
      <p:sp>
        <p:nvSpPr>
          <p:cNvPr id="5" name="Shape 3"/>
          <p:cNvSpPr/>
          <p:nvPr/>
        </p:nvSpPr>
        <p:spPr>
          <a:xfrm>
            <a:off x="566928" y="1572768"/>
            <a:ext cx="3564026" cy="2395728"/>
          </a:xfrm>
          <a:prstGeom prst="roundRect">
            <a:avLst>
              <a:gd name="adj" fmla="val 1908"/>
            </a:avLst>
          </a:prstGeom>
          <a:solidFill>
            <a:srgbClr val="F2F5F6"/>
          </a:solidFill>
          <a:ln w="9525">
            <a:solidFill>
              <a:srgbClr val="D8DEE2"/>
            </a:solidFill>
            <a:prstDash val="solid"/>
          </a:ln>
        </p:spPr>
      </p:sp>
      <p:sp>
        <p:nvSpPr>
          <p:cNvPr id="6" name="Text 4"/>
          <p:cNvSpPr/>
          <p:nvPr/>
        </p:nvSpPr>
        <p:spPr>
          <a:xfrm>
            <a:off x="749808" y="1682496"/>
            <a:ext cx="3198266" cy="310896"/>
          </a:xfrm>
          <a:prstGeom prst="rect">
            <a:avLst/>
          </a:prstGeom>
          <a:noFill/>
          <a:ln/>
        </p:spPr>
        <p:txBody>
          <a:bodyPr wrap="square" lIns="0" tIns="0" rIns="0" bIns="0" rtlCol="0" anchor="ctr"/>
          <a:lstStyle/>
          <a:p>
            <a:pPr indent="0" marL="0">
              <a:buNone/>
            </a:pPr>
            <a:r>
              <a:rPr lang="en-US" sz="1400" b="1" dirty="0">
                <a:solidFill>
                  <a:srgbClr val="1B2429"/>
                </a:solidFill>
                <a:latin typeface="맑은 고딕" pitchFamily="34" charset="0"/>
                <a:ea typeface="맑은 고딕" pitchFamily="34" charset="-122"/>
                <a:cs typeface="맑은 고딕" pitchFamily="34" charset="-120"/>
              </a:rPr>
              <a:t>운영</a:t>
            </a:r>
            <a:endParaRPr lang="en-US" sz="1400" dirty="0"/>
          </a:p>
        </p:txBody>
      </p:sp>
      <p:sp>
        <p:nvSpPr>
          <p:cNvPr id="7" name="Text 5"/>
          <p:cNvSpPr/>
          <p:nvPr/>
        </p:nvSpPr>
        <p:spPr>
          <a:xfrm>
            <a:off x="749808" y="2048256"/>
            <a:ext cx="3198266" cy="1344168"/>
          </a:xfrm>
          <a:prstGeom prst="rect">
            <a:avLst/>
          </a:prstGeom>
          <a:noFill/>
          <a:ln/>
        </p:spPr>
        <p:txBody>
          <a:bodyPr wrap="square" lIns="0" tIns="0" rIns="0" bIns="0" rtlCol="0" anchor="ctr"/>
          <a:lstStyle/>
          <a:p>
            <a:pPr marL="342900" indent="-342900">
              <a:lnSpc>
                <a:spcPts val="2000"/>
              </a:lnSpc>
              <a:spcAft>
                <a:spcPts val="500"/>
              </a:spcAft>
              <a:buSzPct val="100000"/>
              <a:buChar char="–"/>
            </a:pPr>
            <a:r>
              <a:rPr lang="en-US" sz="1100" dirty="0">
                <a:solidFill>
                  <a:srgbClr val="3C4A52"/>
                </a:solidFill>
                <a:latin typeface="맑은 고딕" pitchFamily="34" charset="0"/>
                <a:ea typeface="맑은 고딕" pitchFamily="34" charset="-122"/>
                <a:cs typeface="맑은 고딕" pitchFamily="34" charset="-120"/>
              </a:rPr>
              <a:t>계층 프로브 ICMP·TCP·HTTP 신규</a:t>
            </a:r>
            <a:endParaRPr lang="en-US" sz="1100" dirty="0"/>
          </a:p>
          <a:p>
            <a:pPr marL="342900" indent="-342900">
              <a:lnSpc>
                <a:spcPts val="2000"/>
              </a:lnSpc>
              <a:spcAft>
                <a:spcPts val="500"/>
              </a:spcAft>
              <a:buSzPct val="100000"/>
              <a:buChar char="–"/>
            </a:pPr>
            <a:r>
              <a:rPr lang="en-US" sz="1100" dirty="0">
                <a:solidFill>
                  <a:srgbClr val="3C4A52"/>
                </a:solidFill>
                <a:latin typeface="맑은 고딕" pitchFamily="34" charset="0"/>
                <a:ea typeface="맑은 고딕" pitchFamily="34" charset="-122"/>
                <a:cs typeface="맑은 고딕" pitchFamily="34" charset="-120"/>
              </a:rPr>
              <a:t>Grafana 대시보드 9종</a:t>
            </a:r>
            <a:endParaRPr lang="en-US" sz="1100" dirty="0"/>
          </a:p>
          <a:p>
            <a:pPr marL="342900" indent="-342900">
              <a:lnSpc>
                <a:spcPts val="2000"/>
              </a:lnSpc>
              <a:spcAft>
                <a:spcPts val="500"/>
              </a:spcAft>
              <a:buSzPct val="100000"/>
              <a:buChar char="–"/>
            </a:pPr>
            <a:r>
              <a:rPr lang="en-US" sz="1100" dirty="0">
                <a:solidFill>
                  <a:srgbClr val="3C4A52"/>
                </a:solidFill>
                <a:latin typeface="맑은 고딕" pitchFamily="34" charset="0"/>
                <a:ea typeface="맑은 고딕" pitchFamily="34" charset="-122"/>
                <a:cs typeface="맑은 고딕" pitchFamily="34" charset="-120"/>
              </a:rPr>
              <a:t>레코딩 룰 9 · 알람 15</a:t>
            </a:r>
            <a:endParaRPr lang="en-US" sz="1100" dirty="0"/>
          </a:p>
          <a:p>
            <a:pPr marL="342900" indent="-342900">
              <a:lnSpc>
                <a:spcPts val="2000"/>
              </a:lnSpc>
              <a:spcAft>
                <a:spcPts val="500"/>
              </a:spcAft>
              <a:buSzPct val="100000"/>
              <a:buChar char="–"/>
            </a:pPr>
            <a:r>
              <a:rPr lang="en-US" sz="1100" dirty="0">
                <a:solidFill>
                  <a:srgbClr val="3C4A52"/>
                </a:solidFill>
                <a:latin typeface="맑은 고딕" pitchFamily="34" charset="0"/>
                <a:ea typeface="맑은 고딕" pitchFamily="34" charset="-122"/>
                <a:cs typeface="맑은 고딕" pitchFamily="34" charset="-120"/>
              </a:rPr>
              <a:t>로그 중앙화는 W5 이월</a:t>
            </a:r>
            <a:endParaRPr lang="en-US" sz="1100" dirty="0"/>
          </a:p>
        </p:txBody>
      </p:sp>
      <p:sp>
        <p:nvSpPr>
          <p:cNvPr id="8" name="Shape 6"/>
          <p:cNvSpPr/>
          <p:nvPr/>
        </p:nvSpPr>
        <p:spPr>
          <a:xfrm>
            <a:off x="4313834" y="1572768"/>
            <a:ext cx="3564026" cy="2395728"/>
          </a:xfrm>
          <a:prstGeom prst="roundRect">
            <a:avLst>
              <a:gd name="adj" fmla="val 1908"/>
            </a:avLst>
          </a:prstGeom>
          <a:solidFill>
            <a:srgbClr val="F2F5F6"/>
          </a:solidFill>
          <a:ln w="9525">
            <a:solidFill>
              <a:srgbClr val="D8DEE2"/>
            </a:solidFill>
            <a:prstDash val="solid"/>
          </a:ln>
        </p:spPr>
      </p:sp>
      <p:sp>
        <p:nvSpPr>
          <p:cNvPr id="9" name="Text 7"/>
          <p:cNvSpPr/>
          <p:nvPr/>
        </p:nvSpPr>
        <p:spPr>
          <a:xfrm>
            <a:off x="4496714" y="1682496"/>
            <a:ext cx="3198266" cy="310896"/>
          </a:xfrm>
          <a:prstGeom prst="rect">
            <a:avLst/>
          </a:prstGeom>
          <a:noFill/>
          <a:ln/>
        </p:spPr>
        <p:txBody>
          <a:bodyPr wrap="square" lIns="0" tIns="0" rIns="0" bIns="0" rtlCol="0" anchor="ctr"/>
          <a:lstStyle/>
          <a:p>
            <a:pPr indent="0" marL="0">
              <a:buNone/>
            </a:pPr>
            <a:r>
              <a:rPr lang="en-US" sz="1400" b="1" dirty="0">
                <a:solidFill>
                  <a:srgbClr val="1B2429"/>
                </a:solidFill>
                <a:latin typeface="맑은 고딕" pitchFamily="34" charset="0"/>
                <a:ea typeface="맑은 고딕" pitchFamily="34" charset="-122"/>
                <a:cs typeface="맑은 고딕" pitchFamily="34" charset="-120"/>
              </a:rPr>
              <a:t>보안</a:t>
            </a:r>
            <a:endParaRPr lang="en-US" sz="1400" dirty="0"/>
          </a:p>
        </p:txBody>
      </p:sp>
      <p:sp>
        <p:nvSpPr>
          <p:cNvPr id="10" name="Text 8"/>
          <p:cNvSpPr/>
          <p:nvPr/>
        </p:nvSpPr>
        <p:spPr>
          <a:xfrm>
            <a:off x="4496714" y="2048256"/>
            <a:ext cx="3198266" cy="1344168"/>
          </a:xfrm>
          <a:prstGeom prst="rect">
            <a:avLst/>
          </a:prstGeom>
          <a:noFill/>
          <a:ln/>
        </p:spPr>
        <p:txBody>
          <a:bodyPr wrap="square" lIns="0" tIns="0" rIns="0" bIns="0" rtlCol="0" anchor="ctr"/>
          <a:lstStyle/>
          <a:p>
            <a:pPr marL="342900" indent="-342900">
              <a:lnSpc>
                <a:spcPts val="2000"/>
              </a:lnSpc>
              <a:spcAft>
                <a:spcPts val="500"/>
              </a:spcAft>
              <a:buSzPct val="100000"/>
              <a:buChar char="–"/>
            </a:pPr>
            <a:r>
              <a:rPr lang="en-US" sz="1100" dirty="0">
                <a:solidFill>
                  <a:srgbClr val="3C4A52"/>
                </a:solidFill>
                <a:latin typeface="맑은 고딕" pitchFamily="34" charset="0"/>
                <a:ea typeface="맑은 고딕" pitchFamily="34" charset="-122"/>
                <a:cs typeface="맑은 고딕" pitchFamily="34" charset="-120"/>
              </a:rPr>
              <a:t>DB 롤 분리 후 42501 실제 재현</a:t>
            </a:r>
            <a:endParaRPr lang="en-US" sz="1100" dirty="0"/>
          </a:p>
          <a:p>
            <a:pPr marL="342900" indent="-342900">
              <a:lnSpc>
                <a:spcPts val="2000"/>
              </a:lnSpc>
              <a:spcAft>
                <a:spcPts val="500"/>
              </a:spcAft>
              <a:buSzPct val="100000"/>
              <a:buChar char="–"/>
            </a:pPr>
            <a:r>
              <a:rPr lang="en-US" sz="1100" dirty="0">
                <a:solidFill>
                  <a:srgbClr val="3C4A52"/>
                </a:solidFill>
                <a:latin typeface="맑은 고딕" pitchFamily="34" charset="0"/>
                <a:ea typeface="맑은 고딕" pitchFamily="34" charset="-122"/>
                <a:cs typeface="맑은 고딕" pitchFamily="34" charset="-120"/>
              </a:rPr>
              <a:t>원장 직접 UPDATE는 P0001 차단</a:t>
            </a:r>
            <a:endParaRPr lang="en-US" sz="1100" dirty="0"/>
          </a:p>
          <a:p>
            <a:pPr marL="342900" indent="-342900">
              <a:lnSpc>
                <a:spcPts val="2000"/>
              </a:lnSpc>
              <a:spcAft>
                <a:spcPts val="500"/>
              </a:spcAft>
              <a:buSzPct val="100000"/>
              <a:buChar char="–"/>
            </a:pPr>
            <a:r>
              <a:rPr lang="en-US" sz="1100" dirty="0">
                <a:solidFill>
                  <a:srgbClr val="3C4A52"/>
                </a:solidFill>
                <a:latin typeface="맑은 고딕" pitchFamily="34" charset="0"/>
                <a:ea typeface="맑은 고딕" pitchFamily="34" charset="-122"/>
                <a:cs typeface="맑은 고딕" pitchFamily="34" charset="-120"/>
              </a:rPr>
              <a:t>TLS 종단 · 인증서 자동 갱신</a:t>
            </a:r>
            <a:endParaRPr lang="en-US" sz="1100" dirty="0"/>
          </a:p>
          <a:p>
            <a:pPr marL="342900" indent="-342900">
              <a:lnSpc>
                <a:spcPts val="2000"/>
              </a:lnSpc>
              <a:spcAft>
                <a:spcPts val="500"/>
              </a:spcAft>
              <a:buSzPct val="100000"/>
              <a:buChar char="–"/>
            </a:pPr>
            <a:r>
              <a:rPr lang="en-US" sz="1100" dirty="0">
                <a:solidFill>
                  <a:srgbClr val="3C4A52"/>
                </a:solidFill>
                <a:latin typeface="맑은 고딕" pitchFamily="34" charset="0"/>
                <a:ea typeface="맑은 고딕" pitchFamily="34" charset="-122"/>
                <a:cs typeface="맑은 고딕" pitchFamily="34" charset="-120"/>
              </a:rPr>
              <a:t>장기 액세스 키 0개, OIDC</a:t>
            </a:r>
            <a:endParaRPr lang="en-US" sz="1100" dirty="0"/>
          </a:p>
        </p:txBody>
      </p:sp>
      <p:sp>
        <p:nvSpPr>
          <p:cNvPr id="11" name="Shape 9"/>
          <p:cNvSpPr/>
          <p:nvPr/>
        </p:nvSpPr>
        <p:spPr>
          <a:xfrm>
            <a:off x="8060741" y="1572768"/>
            <a:ext cx="3564026" cy="2395728"/>
          </a:xfrm>
          <a:prstGeom prst="roundRect">
            <a:avLst>
              <a:gd name="adj" fmla="val 1908"/>
            </a:avLst>
          </a:prstGeom>
          <a:solidFill>
            <a:srgbClr val="F2F5F6"/>
          </a:solidFill>
          <a:ln w="9525">
            <a:solidFill>
              <a:srgbClr val="D8DEE2"/>
            </a:solidFill>
            <a:prstDash val="solid"/>
          </a:ln>
        </p:spPr>
      </p:sp>
      <p:sp>
        <p:nvSpPr>
          <p:cNvPr id="12" name="Text 10"/>
          <p:cNvSpPr/>
          <p:nvPr/>
        </p:nvSpPr>
        <p:spPr>
          <a:xfrm>
            <a:off x="8243621" y="1682496"/>
            <a:ext cx="3198266" cy="310896"/>
          </a:xfrm>
          <a:prstGeom prst="rect">
            <a:avLst/>
          </a:prstGeom>
          <a:noFill/>
          <a:ln/>
        </p:spPr>
        <p:txBody>
          <a:bodyPr wrap="square" lIns="0" tIns="0" rIns="0" bIns="0" rtlCol="0" anchor="ctr"/>
          <a:lstStyle/>
          <a:p>
            <a:pPr indent="0" marL="0">
              <a:buNone/>
            </a:pPr>
            <a:r>
              <a:rPr lang="en-US" sz="1400" b="1" dirty="0">
                <a:solidFill>
                  <a:srgbClr val="1B2429"/>
                </a:solidFill>
                <a:latin typeface="맑은 고딕" pitchFamily="34" charset="0"/>
                <a:ea typeface="맑은 고딕" pitchFamily="34" charset="-122"/>
                <a:cs typeface="맑은 고딕" pitchFamily="34" charset="-120"/>
              </a:rPr>
              <a:t>비용</a:t>
            </a:r>
            <a:endParaRPr lang="en-US" sz="1400" dirty="0"/>
          </a:p>
        </p:txBody>
      </p:sp>
      <p:sp>
        <p:nvSpPr>
          <p:cNvPr id="13" name="Text 11"/>
          <p:cNvSpPr/>
          <p:nvPr/>
        </p:nvSpPr>
        <p:spPr>
          <a:xfrm>
            <a:off x="8243621" y="2048256"/>
            <a:ext cx="3198266" cy="1344168"/>
          </a:xfrm>
          <a:prstGeom prst="rect">
            <a:avLst/>
          </a:prstGeom>
          <a:noFill/>
          <a:ln/>
        </p:spPr>
        <p:txBody>
          <a:bodyPr wrap="square" lIns="0" tIns="0" rIns="0" bIns="0" rtlCol="0" anchor="ctr"/>
          <a:lstStyle/>
          <a:p>
            <a:pPr marL="342900" indent="-342900">
              <a:lnSpc>
                <a:spcPts val="2000"/>
              </a:lnSpc>
              <a:spcAft>
                <a:spcPts val="500"/>
              </a:spcAft>
              <a:buSzPct val="100000"/>
              <a:buChar char="–"/>
            </a:pPr>
            <a:r>
              <a:rPr lang="en-US" sz="1100" dirty="0">
                <a:solidFill>
                  <a:srgbClr val="3C4A52"/>
                </a:solidFill>
                <a:latin typeface="맑은 고딕" pitchFamily="34" charset="0"/>
                <a:ea typeface="맑은 고딕" pitchFamily="34" charset="-122"/>
                <a:cs typeface="맑은 고딕" pitchFamily="34" charset="-120"/>
              </a:rPr>
              <a:t>월 상한 100,000원</a:t>
            </a:r>
            <a:endParaRPr lang="en-US" sz="1100" dirty="0"/>
          </a:p>
          <a:p>
            <a:pPr marL="342900" indent="-342900">
              <a:lnSpc>
                <a:spcPts val="2000"/>
              </a:lnSpc>
              <a:spcAft>
                <a:spcPts val="500"/>
              </a:spcAft>
              <a:buSzPct val="100000"/>
              <a:buChar char="–"/>
            </a:pPr>
            <a:r>
              <a:rPr lang="en-US" sz="1100" dirty="0">
                <a:solidFill>
                  <a:srgbClr val="3C4A52"/>
                </a:solidFill>
                <a:latin typeface="맑은 고딕" pitchFamily="34" charset="0"/>
                <a:ea typeface="맑은 고딕" pitchFamily="34" charset="-122"/>
                <a:cs typeface="맑은 고딕" pitchFamily="34" charset="-120"/>
              </a:rPr>
              <a:t>달력 월 실청구 97,318원</a:t>
            </a:r>
            <a:endParaRPr lang="en-US" sz="1100" dirty="0"/>
          </a:p>
          <a:p>
            <a:pPr marL="342900" indent="-342900">
              <a:lnSpc>
                <a:spcPts val="2000"/>
              </a:lnSpc>
              <a:spcAft>
                <a:spcPts val="500"/>
              </a:spcAft>
              <a:buSzPct val="100000"/>
              <a:buChar char="–"/>
            </a:pPr>
            <a:r>
              <a:rPr lang="en-US" sz="1100" dirty="0">
                <a:solidFill>
                  <a:srgbClr val="3C4A52"/>
                </a:solidFill>
                <a:latin typeface="맑은 고딕" pitchFamily="34" charset="0"/>
                <a:ea typeface="맑은 고딕" pitchFamily="34" charset="-122"/>
                <a:cs typeface="맑은 고딕" pitchFamily="34" charset="-120"/>
              </a:rPr>
              <a:t>발표까지 총계 USD 139.03</a:t>
            </a:r>
            <a:endParaRPr lang="en-US" sz="1100" dirty="0"/>
          </a:p>
          <a:p>
            <a:pPr marL="342900" indent="-342900">
              <a:lnSpc>
                <a:spcPts val="2000"/>
              </a:lnSpc>
              <a:spcAft>
                <a:spcPts val="500"/>
              </a:spcAft>
              <a:buSzPct val="100000"/>
              <a:buChar char="–"/>
            </a:pPr>
            <a:r>
              <a:rPr lang="en-US" sz="1100" dirty="0">
                <a:solidFill>
                  <a:srgbClr val="3C4A52"/>
                </a:solidFill>
                <a:latin typeface="맑은 고딕" pitchFamily="34" charset="0"/>
                <a:ea typeface="맑은 고딕" pitchFamily="34" charset="-122"/>
                <a:cs typeface="맑은 고딕" pitchFamily="34" charset="-120"/>
              </a:rPr>
              <a:t>감축 순서 1~5 사전 확정</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4169664"/>
          <a:ext cx="11057839" cy="914400"/>
        </p:xfrm>
        <a:graphic>
          <a:graphicData uri="http://schemas.openxmlformats.org/drawingml/2006/table">
            <a:tbl>
              <a:tblPr/>
              <a:tblGrid>
                <a:gridCol w="4206240"/>
                <a:gridCol w="2194560"/>
                <a:gridCol w="4663440"/>
              </a:tblGrid>
              <a:tr h="310896">
                <a:tc>
                  <a:txBody>
                    <a:bodyPr/>
                    <a:lstStyle/>
                    <a:p>
                      <a:pPr indent="0" marL="0">
                        <a:buNone/>
                      </a:pPr>
                      <a:r>
                        <a:rPr lang="en-US" sz="1100" b="1" dirty="0">
                          <a:solidFill>
                            <a:srgbClr val="FFFFFF"/>
                          </a:solidFill>
                          <a:latin typeface="맑은 고딕" pitchFamily="34" charset="0"/>
                          <a:ea typeface="맑은 고딕" pitchFamily="34" charset="-122"/>
                          <a:cs typeface="맑은 고딕" pitchFamily="34" charset="-120"/>
                        </a:rPr>
                        <a:t>비용 항목</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solidFill>
                      <a:srgbClr val="222E35"/>
                    </a:solidFill>
                  </a:tcPr>
                </a:tc>
                <a:tc>
                  <a:txBody>
                    <a:bodyPr/>
                    <a:lstStyle/>
                    <a:p>
                      <a:pPr indent="0" marL="0">
                        <a:buNone/>
                      </a:pPr>
                      <a:r>
                        <a:rPr lang="en-US" sz="1100" b="1" dirty="0">
                          <a:solidFill>
                            <a:srgbClr val="FFFFFF"/>
                          </a:solidFill>
                          <a:latin typeface="맑은 고딕" pitchFamily="34" charset="0"/>
                          <a:ea typeface="맑은 고딕" pitchFamily="34" charset="-122"/>
                          <a:cs typeface="맑은 고딕" pitchFamily="34" charset="-120"/>
                        </a:rPr>
                        <a:t>금액 USD</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solidFill>
                      <a:srgbClr val="222E35"/>
                    </a:solidFill>
                  </a:tcPr>
                </a:tc>
                <a:tc>
                  <a:txBody>
                    <a:bodyPr/>
                    <a:lstStyle/>
                    <a:p>
                      <a:pPr indent="0" marL="0">
                        <a:buNone/>
                      </a:pPr>
                      <a:r>
                        <a:rPr lang="en-US" sz="1100" b="1" dirty="0">
                          <a:solidFill>
                            <a:srgbClr val="FFFFFF"/>
                          </a:solidFill>
                          <a:latin typeface="맑은 고딕" pitchFamily="34" charset="0"/>
                          <a:ea typeface="맑은 고딕" pitchFamily="34" charset="-122"/>
                          <a:cs typeface="맑은 고딕" pitchFamily="34" charset="-120"/>
                        </a:rPr>
                        <a:t>비고</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solidFill>
                      <a:srgbClr val="222E35"/>
                    </a:solidFill>
                  </a:tcPr>
                </a:tc>
              </a:tr>
              <a:tr h="310896">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S0 baseline  09-01 ~ 09-14</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0.72</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Route 53 · CloudFront · S3</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r>
              <a:tr h="310896">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S1 HA steady  09-15 ~ 10-16</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117.87</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app x2 · primary/standby · NAT x2</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r>
              <a:tr h="310896">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S2 부하 창  90시간</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7.79</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달력 월 45시간 예산</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r>
              <a:tr h="310896">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부가세 포함 총계</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139.03</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달력 월 97,318원 · 상한 100,000원 안</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r>
            </a:tbl>
          </a:graphicData>
        </a:graphic>
      </p:graphicFrame>
      <p:sp>
        <p:nvSpPr>
          <p:cNvPr id="15" name="Text 12"/>
          <p:cNvSpPr/>
          <p:nvPr/>
        </p:nvSpPr>
        <p:spPr>
          <a:xfrm>
            <a:off x="566928" y="5870448"/>
            <a:ext cx="11057839" cy="274320"/>
          </a:xfrm>
          <a:prstGeom prst="rect">
            <a:avLst/>
          </a:prstGeom>
          <a:noFill/>
          <a:ln/>
        </p:spPr>
        <p:txBody>
          <a:bodyPr wrap="square" lIns="0" tIns="0" rIns="0" bIns="0" rtlCol="0" anchor="ctr"/>
          <a:lstStyle/>
          <a:p>
            <a:pPr indent="0" marL="0">
              <a:buNone/>
            </a:pPr>
            <a:r>
              <a:rPr lang="en-US" sz="1000" i="1" dirty="0">
                <a:solidFill>
                  <a:srgbClr val="7A8A93"/>
                </a:solidFill>
                <a:latin typeface="맑은 고딕" pitchFamily="34" charset="0"/>
                <a:ea typeface="맑은 고딕" pitchFamily="34" charset="-122"/>
                <a:cs typeface="맑은 고딕" pitchFamily="34" charset="-120"/>
              </a:rPr>
              <a:t>단가 원천은 AWS Price List Bulk API 서울 리전 오퍼 파일 20260824193147. 3자 요약 사이트 수치는 쓰지 않는다</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1999" cy="566928"/>
          </a:xfrm>
          <a:prstGeom prst="rect">
            <a:avLst/>
          </a:prstGeom>
          <a:noFill/>
          <a:ln/>
        </p:spPr>
        <p:txBody>
          <a:bodyPr wrap="square" lIns="0" tIns="0" rIns="0" bIns="0" rtlCol="0" anchor="ctr"/>
          <a:lstStyle/>
          <a:p>
            <a:pPr indent="0" marL="0">
              <a:buNone/>
            </a:pPr>
            <a:r>
              <a:rPr lang="en-US" sz="3100" b="1" dirty="0">
                <a:solidFill>
                  <a:srgbClr val="1B2429"/>
                </a:solidFill>
                <a:latin typeface="맑은 고딕" pitchFamily="34" charset="0"/>
                <a:ea typeface="맑은 고딕" pitchFamily="34" charset="-122"/>
                <a:cs typeface="맑은 고딕" pitchFamily="34" charset="-120"/>
              </a:rPr>
              <a:t>검증 계획</a:t>
            </a:r>
            <a:endParaRPr lang="en-US" sz="3100" dirty="0"/>
          </a:p>
        </p:txBody>
      </p:sp>
      <p:sp>
        <p:nvSpPr>
          <p:cNvPr id="3" name="Text 1"/>
          <p:cNvSpPr/>
          <p:nvPr/>
        </p:nvSpPr>
        <p:spPr>
          <a:xfrm>
            <a:off x="10847527" y="384048"/>
            <a:ext cx="777240" cy="566928"/>
          </a:xfrm>
          <a:prstGeom prst="rect">
            <a:avLst/>
          </a:prstGeom>
          <a:noFill/>
          <a:ln/>
        </p:spPr>
        <p:txBody>
          <a:bodyPr wrap="square" lIns="0" tIns="0" rIns="0" bIns="0" rtlCol="0" anchor="ctr"/>
          <a:lstStyle/>
          <a:p>
            <a:pPr algn="r" indent="0" marL="0">
              <a:buNone/>
            </a:pPr>
            <a:r>
              <a:rPr lang="en-US" sz="3100" b="1" dirty="0">
                <a:solidFill>
                  <a:srgbClr val="C9D2D7"/>
                </a:solidFill>
                <a:latin typeface="맑은 고딕" pitchFamily="34" charset="0"/>
                <a:ea typeface="맑은 고딕" pitchFamily="34" charset="-122"/>
                <a:cs typeface="맑은 고딕" pitchFamily="34" charset="-120"/>
              </a:rPr>
              <a:t>07</a:t>
            </a:r>
            <a:endParaRPr lang="en-US" sz="3100" dirty="0"/>
          </a:p>
        </p:txBody>
      </p:sp>
      <p:sp>
        <p:nvSpPr>
          <p:cNvPr id="4" name="Text 2"/>
          <p:cNvSpPr/>
          <p:nvPr/>
        </p:nvSpPr>
        <p:spPr>
          <a:xfrm>
            <a:off x="566928" y="969264"/>
            <a:ext cx="11057839" cy="384048"/>
          </a:xfrm>
          <a:prstGeom prst="rect">
            <a:avLst/>
          </a:prstGeom>
          <a:noFill/>
          <a:ln/>
        </p:spPr>
        <p:txBody>
          <a:bodyPr wrap="square" lIns="0" tIns="0" rIns="0" bIns="0" rtlCol="0" anchor="ctr"/>
          <a:lstStyle/>
          <a:p>
            <a:pPr indent="0" marL="0">
              <a:buNone/>
            </a:pPr>
            <a:r>
              <a:rPr lang="en-US" sz="1450" i="1" dirty="0">
                <a:solidFill>
                  <a:srgbClr val="3C4A52"/>
                </a:solidFill>
                <a:latin typeface="맑은 고딕" pitchFamily="34" charset="0"/>
                <a:ea typeface="맑은 고딕" pitchFamily="34" charset="-122"/>
                <a:cs typeface="맑은 고딕" pitchFamily="34" charset="-120"/>
              </a:rPr>
              <a:t>장애를 일부러 내고 데이터가 맞는지 확인한다. 예상과 실측을 같은 행에서 대조한다</a:t>
            </a:r>
            <a:endParaRPr lang="en-US" sz="14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57839" cy="914400"/>
        </p:xfrm>
        <a:graphic>
          <a:graphicData uri="http://schemas.openxmlformats.org/drawingml/2006/table">
            <a:tbl>
              <a:tblPr/>
              <a:tblGrid>
                <a:gridCol w="713232"/>
                <a:gridCol w="6903720"/>
                <a:gridCol w="3438144"/>
              </a:tblGrid>
              <a:tr h="301752">
                <a:tc>
                  <a:txBody>
                    <a:bodyPr/>
                    <a:lstStyle/>
                    <a:p>
                      <a:pPr indent="0" marL="0">
                        <a:buNone/>
                      </a:pPr>
                      <a:r>
                        <a:rPr lang="en-US" sz="1050" b="1" dirty="0">
                          <a:solidFill>
                            <a:srgbClr val="FFFFFF"/>
                          </a:solidFill>
                          <a:latin typeface="맑은 고딕" pitchFamily="34" charset="0"/>
                          <a:ea typeface="맑은 고딕" pitchFamily="34" charset="-122"/>
                          <a:cs typeface="맑은 고딕" pitchFamily="34" charset="-120"/>
                        </a:rPr>
                        <a:t>항목</a:t>
                      </a:r>
                      <a:endParaRPr lang="en-US" sz="1050" dirty="0">
                        <a:latin typeface="맑은 고딕" charset="0"/>
                        <a:ea typeface="맑은 고딕" charset="0"/>
                        <a:cs typeface="맑은 고딕" charset="0"/>
                      </a:endParaRPr>
                    </a:p>
                  </a:txBody>
                  <a:tcPr marL="88900" marR="889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solidFill>
                      <a:srgbClr val="222E35"/>
                    </a:solidFill>
                  </a:tcPr>
                </a:tc>
                <a:tc>
                  <a:txBody>
                    <a:bodyPr/>
                    <a:lstStyle/>
                    <a:p>
                      <a:pPr indent="0" marL="0">
                        <a:buNone/>
                      </a:pPr>
                      <a:r>
                        <a:rPr lang="en-US" sz="1050" b="1" dirty="0">
                          <a:solidFill>
                            <a:srgbClr val="FFFFFF"/>
                          </a:solidFill>
                          <a:latin typeface="맑은 고딕" pitchFamily="34" charset="0"/>
                          <a:ea typeface="맑은 고딕" pitchFamily="34" charset="-122"/>
                          <a:cs typeface="맑은 고딕" pitchFamily="34" charset="-120"/>
                        </a:rPr>
                        <a:t>한 줄 요약</a:t>
                      </a:r>
                      <a:endParaRPr lang="en-US" sz="1050" dirty="0">
                        <a:latin typeface="맑은 고딕" charset="0"/>
                        <a:ea typeface="맑은 고딕" charset="0"/>
                        <a:cs typeface="맑은 고딕" charset="0"/>
                      </a:endParaRPr>
                    </a:p>
                  </a:txBody>
                  <a:tcPr marL="88900" marR="889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solidFill>
                      <a:srgbClr val="222E35"/>
                    </a:solidFill>
                  </a:tcPr>
                </a:tc>
                <a:tc>
                  <a:txBody>
                    <a:bodyPr/>
                    <a:lstStyle/>
                    <a:p>
                      <a:pPr indent="0" marL="0">
                        <a:buNone/>
                      </a:pPr>
                      <a:r>
                        <a:rPr lang="en-US" sz="1050" b="1" dirty="0">
                          <a:solidFill>
                            <a:srgbClr val="FFFFFF"/>
                          </a:solidFill>
                          <a:latin typeface="맑은 고딕" pitchFamily="34" charset="0"/>
                          <a:ea typeface="맑은 고딕" pitchFamily="34" charset="-122"/>
                          <a:cs typeface="맑은 고딕" pitchFamily="34" charset="-120"/>
                        </a:rPr>
                        <a:t>결과</a:t>
                      </a:r>
                      <a:endParaRPr lang="en-US" sz="1050" dirty="0">
                        <a:latin typeface="맑은 고딕" charset="0"/>
                        <a:ea typeface="맑은 고딕" charset="0"/>
                        <a:cs typeface="맑은 고딕" charset="0"/>
                      </a:endParaRPr>
                    </a:p>
                  </a:txBody>
                  <a:tcPr marL="88900" marR="889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solidFill>
                      <a:srgbClr val="222E35"/>
                    </a:solidFill>
                  </a:tcPr>
                </a:tc>
              </a:tr>
              <a:tr h="301752">
                <a:tc>
                  <a:txBody>
                    <a:bodyPr/>
                    <a:lstStyle/>
                    <a:p>
                      <a:pPr algn="ctr" indent="0" marL="0">
                        <a:buNone/>
                      </a:pPr>
                      <a:r>
                        <a:rPr lang="en-US" sz="1050" b="1" dirty="0">
                          <a:solidFill>
                            <a:srgbClr val="1B2429"/>
                          </a:solidFill>
                          <a:latin typeface="맑은 고딕" pitchFamily="34" charset="0"/>
                          <a:ea typeface="맑은 고딕" pitchFamily="34" charset="-122"/>
                          <a:cs typeface="맑은 고딕" pitchFamily="34" charset="-120"/>
                        </a:rPr>
                        <a:t>E1</a:t>
                      </a:r>
                      <a:endParaRPr lang="en-US" sz="1050" dirty="0">
                        <a:latin typeface="맑은 고딕" charset="0"/>
                        <a:ea typeface="맑은 고딕" charset="0"/>
                        <a:cs typeface="맑은 고딕" charset="0"/>
                      </a:endParaRPr>
                    </a:p>
                  </a:txBody>
                  <a:tcPr marL="88900" marR="889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000" dirty="0">
                          <a:solidFill>
                            <a:srgbClr val="3C4A52"/>
                          </a:solidFill>
                          <a:latin typeface="맑은 고딕" pitchFamily="34" charset="0"/>
                          <a:ea typeface="맑은 고딕" pitchFamily="34" charset="-122"/>
                          <a:cs typeface="맑은 고딕" pitchFamily="34" charset="-120"/>
                        </a:rPr>
                        <a:t>시스템을 일부러 느리게 해도 멈추지 않고 빠르게 정상화되는지 확인</a:t>
                      </a:r>
                      <a:endParaRPr lang="en-US" sz="1000" dirty="0">
                        <a:latin typeface="맑은 고딕" charset="0"/>
                        <a:ea typeface="맑은 고딕" charset="0"/>
                        <a:cs typeface="맑은 고딕" charset="0"/>
                      </a:endParaRPr>
                    </a:p>
                  </a:txBody>
                  <a:tcPr marL="88900" marR="889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000" b="1" dirty="0">
                          <a:solidFill>
                            <a:srgbClr val="2F6B54"/>
                          </a:solidFill>
                          <a:latin typeface="맑은 고딕" pitchFamily="34" charset="0"/>
                          <a:ea typeface="맑은 고딕" pitchFamily="34" charset="-122"/>
                          <a:cs typeface="맑은 고딕" pitchFamily="34" charset="-120"/>
                        </a:rPr>
                        <a:t>PASS · 3회 연속, 약 2초 만에 복구</a:t>
                      </a:r>
                      <a:endParaRPr lang="en-US" sz="1000" dirty="0">
                        <a:latin typeface="맑은 고딕" charset="0"/>
                        <a:ea typeface="맑은 고딕" charset="0"/>
                        <a:cs typeface="맑은 고딕" charset="0"/>
                      </a:endParaRPr>
                    </a:p>
                  </a:txBody>
                  <a:tcPr marL="88900" marR="889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r>
              <a:tr h="301752">
                <a:tc>
                  <a:txBody>
                    <a:bodyPr/>
                    <a:lstStyle/>
                    <a:p>
                      <a:pPr algn="ctr" indent="0" marL="0">
                        <a:buNone/>
                      </a:pPr>
                      <a:r>
                        <a:rPr lang="en-US" sz="1050" b="1" dirty="0">
                          <a:solidFill>
                            <a:srgbClr val="1B2429"/>
                          </a:solidFill>
                          <a:latin typeface="맑은 고딕" pitchFamily="34" charset="0"/>
                          <a:ea typeface="맑은 고딕" pitchFamily="34" charset="-122"/>
                          <a:cs typeface="맑은 고딕" pitchFamily="34" charset="-120"/>
                        </a:rPr>
                        <a:t>E2</a:t>
                      </a:r>
                      <a:endParaRPr lang="en-US" sz="1050" dirty="0">
                        <a:latin typeface="맑은 고딕" charset="0"/>
                        <a:ea typeface="맑은 고딕" charset="0"/>
                        <a:cs typeface="맑은 고딕" charset="0"/>
                      </a:endParaRPr>
                    </a:p>
                  </a:txBody>
                  <a:tcPr marL="88900" marR="889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000" dirty="0">
                          <a:solidFill>
                            <a:srgbClr val="3C4A52"/>
                          </a:solidFill>
                          <a:latin typeface="맑은 고딕" pitchFamily="34" charset="0"/>
                          <a:ea typeface="맑은 고딕" pitchFamily="34" charset="-122"/>
                          <a:cs typeface="맑은 고딕" pitchFamily="34" charset="-120"/>
                        </a:rPr>
                        <a:t>저장소 연결이 끊겨도 데이터 유실 없이 새 대표가 정상 전환되는지 확인</a:t>
                      </a:r>
                      <a:endParaRPr lang="en-US" sz="1000" dirty="0">
                        <a:latin typeface="맑은 고딕" charset="0"/>
                        <a:ea typeface="맑은 고딕" charset="0"/>
                        <a:cs typeface="맑은 고딕" charset="0"/>
                      </a:endParaRPr>
                    </a:p>
                  </a:txBody>
                  <a:tcPr marL="88900" marR="889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000" b="1" dirty="0">
                          <a:solidFill>
                            <a:srgbClr val="2F6B54"/>
                          </a:solidFill>
                          <a:latin typeface="맑은 고딕" pitchFamily="34" charset="0"/>
                          <a:ea typeface="맑은 고딕" pitchFamily="34" charset="-122"/>
                          <a:cs typeface="맑은 고딕" pitchFamily="34" charset="-120"/>
                        </a:rPr>
                        <a:t>PASS · 약 5.1초 만에 복구</a:t>
                      </a:r>
                      <a:endParaRPr lang="en-US" sz="1000" dirty="0">
                        <a:latin typeface="맑은 고딕" charset="0"/>
                        <a:ea typeface="맑은 고딕" charset="0"/>
                        <a:cs typeface="맑은 고딕" charset="0"/>
                      </a:endParaRPr>
                    </a:p>
                  </a:txBody>
                  <a:tcPr marL="88900" marR="889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r>
              <a:tr h="301752">
                <a:tc>
                  <a:txBody>
                    <a:bodyPr/>
                    <a:lstStyle/>
                    <a:p>
                      <a:pPr algn="ctr" indent="0" marL="0">
                        <a:buNone/>
                      </a:pPr>
                      <a:r>
                        <a:rPr lang="en-US" sz="1050" b="1" dirty="0">
                          <a:solidFill>
                            <a:srgbClr val="1B2429"/>
                          </a:solidFill>
                          <a:latin typeface="맑은 고딕" pitchFamily="34" charset="0"/>
                          <a:ea typeface="맑은 고딕" pitchFamily="34" charset="-122"/>
                          <a:cs typeface="맑은 고딕" pitchFamily="34" charset="-120"/>
                        </a:rPr>
                        <a:t>E3</a:t>
                      </a:r>
                      <a:endParaRPr lang="en-US" sz="1050" dirty="0">
                        <a:latin typeface="맑은 고딕" charset="0"/>
                        <a:ea typeface="맑은 고딕" charset="0"/>
                        <a:cs typeface="맑은 고딕" charset="0"/>
                      </a:endParaRPr>
                    </a:p>
                  </a:txBody>
                  <a:tcPr marL="88900" marR="889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000" dirty="0">
                          <a:solidFill>
                            <a:srgbClr val="3C4A52"/>
                          </a:solidFill>
                          <a:latin typeface="맑은 고딕" pitchFamily="34" charset="0"/>
                          <a:ea typeface="맑은 고딕" pitchFamily="34" charset="-122"/>
                          <a:cs typeface="맑은 고딕" pitchFamily="34" charset="-120"/>
                        </a:rPr>
                        <a:t>Redis가 중단돼도 핵심 서비스에 영향이 없는지 확인</a:t>
                      </a:r>
                      <a:endParaRPr lang="en-US" sz="1000" dirty="0">
                        <a:latin typeface="맑은 고딕" charset="0"/>
                        <a:ea typeface="맑은 고딕" charset="0"/>
                        <a:cs typeface="맑은 고딕" charset="0"/>
                      </a:endParaRPr>
                    </a:p>
                  </a:txBody>
                  <a:tcPr marL="88900" marR="889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000" b="1" dirty="0">
                          <a:solidFill>
                            <a:srgbClr val="7A8A93"/>
                          </a:solidFill>
                          <a:latin typeface="맑은 고딕" pitchFamily="34" charset="0"/>
                          <a:ea typeface="맑은 고딕" pitchFamily="34" charset="-122"/>
                          <a:cs typeface="맑은 고딕" pitchFamily="34" charset="-120"/>
                        </a:rPr>
                        <a:t>정상 SKIP · 실제 의존 관계 없음</a:t>
                      </a:r>
                      <a:endParaRPr lang="en-US" sz="1000" dirty="0">
                        <a:latin typeface="맑은 고딕" charset="0"/>
                        <a:ea typeface="맑은 고딕" charset="0"/>
                        <a:cs typeface="맑은 고딕" charset="0"/>
                      </a:endParaRPr>
                    </a:p>
                  </a:txBody>
                  <a:tcPr marL="88900" marR="889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r>
              <a:tr h="301752">
                <a:tc>
                  <a:txBody>
                    <a:bodyPr/>
                    <a:lstStyle/>
                    <a:p>
                      <a:pPr algn="ctr" indent="0" marL="0">
                        <a:buNone/>
                      </a:pPr>
                      <a:r>
                        <a:rPr lang="en-US" sz="1050" b="1" dirty="0">
                          <a:solidFill>
                            <a:srgbClr val="1B2429"/>
                          </a:solidFill>
                          <a:latin typeface="맑은 고딕" pitchFamily="34" charset="0"/>
                          <a:ea typeface="맑은 고딕" pitchFamily="34" charset="-122"/>
                          <a:cs typeface="맑은 고딕" pitchFamily="34" charset="-120"/>
                        </a:rPr>
                        <a:t>E4</a:t>
                      </a:r>
                      <a:endParaRPr lang="en-US" sz="1050" dirty="0">
                        <a:latin typeface="맑은 고딕" charset="0"/>
                        <a:ea typeface="맑은 고딕" charset="0"/>
                        <a:cs typeface="맑은 고딕" charset="0"/>
                      </a:endParaRPr>
                    </a:p>
                  </a:txBody>
                  <a:tcPr marL="88900" marR="889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000" dirty="0">
                          <a:solidFill>
                            <a:srgbClr val="3C4A52"/>
                          </a:solidFill>
                          <a:latin typeface="맑은 고딕" pitchFamily="34" charset="0"/>
                          <a:ea typeface="맑은 고딕" pitchFamily="34" charset="-122"/>
                          <a:cs typeface="맑은 고딕" pitchFamily="34" charset="-120"/>
                        </a:rPr>
                        <a:t>대표 서버가 갑자기 죽어도 30초 안에 자동 복구되는지 확인</a:t>
                      </a:r>
                      <a:endParaRPr lang="en-US" sz="1000" dirty="0">
                        <a:latin typeface="맑은 고딕" charset="0"/>
                        <a:ea typeface="맑은 고딕" charset="0"/>
                        <a:cs typeface="맑은 고딕" charset="0"/>
                      </a:endParaRPr>
                    </a:p>
                  </a:txBody>
                  <a:tcPr marL="88900" marR="889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000" b="1" dirty="0">
                          <a:solidFill>
                            <a:srgbClr val="2F6B54"/>
                          </a:solidFill>
                          <a:latin typeface="맑은 고딕" pitchFamily="34" charset="0"/>
                          <a:ea typeface="맑은 고딕" pitchFamily="34" charset="-122"/>
                          <a:cs typeface="맑은 고딕" pitchFamily="34" charset="-120"/>
                        </a:rPr>
                        <a:t>PASS · 약 6.5초 만에 복구</a:t>
                      </a:r>
                      <a:endParaRPr lang="en-US" sz="1000" dirty="0">
                        <a:latin typeface="맑은 고딕" charset="0"/>
                        <a:ea typeface="맑은 고딕" charset="0"/>
                        <a:cs typeface="맑은 고딕" charset="0"/>
                      </a:endParaRPr>
                    </a:p>
                  </a:txBody>
                  <a:tcPr marL="88900" marR="889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r>
              <a:tr h="301752">
                <a:tc>
                  <a:txBody>
                    <a:bodyPr/>
                    <a:lstStyle/>
                    <a:p>
                      <a:pPr algn="ctr" indent="0" marL="0">
                        <a:buNone/>
                      </a:pPr>
                      <a:r>
                        <a:rPr lang="en-US" sz="1050" b="1" dirty="0">
                          <a:solidFill>
                            <a:srgbClr val="1B2429"/>
                          </a:solidFill>
                          <a:latin typeface="맑은 고딕" pitchFamily="34" charset="0"/>
                          <a:ea typeface="맑은 고딕" pitchFamily="34" charset="-122"/>
                          <a:cs typeface="맑은 고딕" pitchFamily="34" charset="-120"/>
                        </a:rPr>
                        <a:t>E5</a:t>
                      </a:r>
                      <a:endParaRPr lang="en-US" sz="1050" dirty="0">
                        <a:latin typeface="맑은 고딕" charset="0"/>
                        <a:ea typeface="맑은 고딕" charset="0"/>
                        <a:cs typeface="맑은 고딕" charset="0"/>
                      </a:endParaRPr>
                    </a:p>
                  </a:txBody>
                  <a:tcPr marL="88900" marR="889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000" dirty="0">
                          <a:solidFill>
                            <a:srgbClr val="3C4A52"/>
                          </a:solidFill>
                          <a:latin typeface="맑은 고딕" pitchFamily="34" charset="0"/>
                          <a:ea typeface="맑은 고딕" pitchFamily="34" charset="-122"/>
                          <a:cs typeface="맑은 고딕" pitchFamily="34" charset="-120"/>
                        </a:rPr>
                        <a:t>대표 서버의 네트워크가 끊겨도 새 대표로 안전하게 전환되는지 확인</a:t>
                      </a:r>
                      <a:endParaRPr lang="en-US" sz="1000" dirty="0">
                        <a:latin typeface="맑은 고딕" charset="0"/>
                        <a:ea typeface="맑은 고딕" charset="0"/>
                        <a:cs typeface="맑은 고딕" charset="0"/>
                      </a:endParaRPr>
                    </a:p>
                  </a:txBody>
                  <a:tcPr marL="88900" marR="889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000" b="1" dirty="0">
                          <a:solidFill>
                            <a:srgbClr val="2F6B54"/>
                          </a:solidFill>
                          <a:latin typeface="맑은 고딕" pitchFamily="34" charset="0"/>
                          <a:ea typeface="맑은 고딕" pitchFamily="34" charset="-122"/>
                          <a:cs typeface="맑은 고딕" pitchFamily="34" charset="-120"/>
                        </a:rPr>
                        <a:t>PASS · 약 10.0초 만에 복구, 오류 0건</a:t>
                      </a:r>
                      <a:endParaRPr lang="en-US" sz="1000" dirty="0">
                        <a:latin typeface="맑은 고딕" charset="0"/>
                        <a:ea typeface="맑은 고딕" charset="0"/>
                        <a:cs typeface="맑은 고딕" charset="0"/>
                      </a:endParaRPr>
                    </a:p>
                  </a:txBody>
                  <a:tcPr marL="88900" marR="889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r>
              <a:tr h="301752">
                <a:tc>
                  <a:txBody>
                    <a:bodyPr/>
                    <a:lstStyle/>
                    <a:p>
                      <a:pPr algn="ctr" indent="0" marL="0">
                        <a:buNone/>
                      </a:pPr>
                      <a:r>
                        <a:rPr lang="en-US" sz="1050" b="1" dirty="0">
                          <a:solidFill>
                            <a:srgbClr val="1B2429"/>
                          </a:solidFill>
                          <a:latin typeface="맑은 고딕" pitchFamily="34" charset="0"/>
                          <a:ea typeface="맑은 고딕" pitchFamily="34" charset="-122"/>
                          <a:cs typeface="맑은 고딕" pitchFamily="34" charset="-120"/>
                        </a:rPr>
                        <a:t>E6</a:t>
                      </a:r>
                      <a:endParaRPr lang="en-US" sz="1050" dirty="0">
                        <a:latin typeface="맑은 고딕" charset="0"/>
                        <a:ea typeface="맑은 고딕" charset="0"/>
                        <a:cs typeface="맑은 고딕" charset="0"/>
                      </a:endParaRPr>
                    </a:p>
                  </a:txBody>
                  <a:tcPr marL="88900" marR="889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000" dirty="0">
                          <a:solidFill>
                            <a:srgbClr val="3C4A52"/>
                          </a:solidFill>
                          <a:latin typeface="맑은 고딕" pitchFamily="34" charset="0"/>
                          <a:ea typeface="맑은 고딕" pitchFamily="34" charset="-122"/>
                          <a:cs typeface="맑은 고딕" pitchFamily="34" charset="-120"/>
                        </a:rPr>
                        <a:t>높은 부하 중 대표 서버가 죽어도 서비스가 계속 유지되는지 확인</a:t>
                      </a:r>
                      <a:endParaRPr lang="en-US" sz="1000" dirty="0">
                        <a:latin typeface="맑은 고딕" charset="0"/>
                        <a:ea typeface="맑은 고딕" charset="0"/>
                        <a:cs typeface="맑은 고딕" charset="0"/>
                      </a:endParaRPr>
                    </a:p>
                  </a:txBody>
                  <a:tcPr marL="88900" marR="889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000" b="1" dirty="0">
                          <a:solidFill>
                            <a:srgbClr val="2F6B54"/>
                          </a:solidFill>
                          <a:latin typeface="맑은 고딕" pitchFamily="34" charset="0"/>
                          <a:ea typeface="맑은 고딕" pitchFamily="34" charset="-122"/>
                          <a:cs typeface="맑은 고딕" pitchFamily="34" charset="-120"/>
                        </a:rPr>
                        <a:t>PASS · 약 7.3초 만에 복구</a:t>
                      </a:r>
                      <a:endParaRPr lang="en-US" sz="1000" dirty="0">
                        <a:latin typeface="맑은 고딕" charset="0"/>
                        <a:ea typeface="맑은 고딕" charset="0"/>
                        <a:cs typeface="맑은 고딕" charset="0"/>
                      </a:endParaRPr>
                    </a:p>
                  </a:txBody>
                  <a:tcPr marL="88900" marR="889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r>
              <a:tr h="301752">
                <a:tc>
                  <a:txBody>
                    <a:bodyPr/>
                    <a:lstStyle/>
                    <a:p>
                      <a:pPr algn="ctr" indent="0" marL="0">
                        <a:buNone/>
                      </a:pPr>
                      <a:r>
                        <a:rPr lang="en-US" sz="1050" b="1" dirty="0">
                          <a:solidFill>
                            <a:srgbClr val="1B2429"/>
                          </a:solidFill>
                          <a:latin typeface="맑은 고딕" pitchFamily="34" charset="0"/>
                          <a:ea typeface="맑은 고딕" pitchFamily="34" charset="-122"/>
                          <a:cs typeface="맑은 고딕" pitchFamily="34" charset="-120"/>
                        </a:rPr>
                        <a:t>E7</a:t>
                      </a:r>
                      <a:endParaRPr lang="en-US" sz="1050" dirty="0">
                        <a:latin typeface="맑은 고딕" charset="0"/>
                        <a:ea typeface="맑은 고딕" charset="0"/>
                        <a:cs typeface="맑은 고딕" charset="0"/>
                      </a:endParaRPr>
                    </a:p>
                  </a:txBody>
                  <a:tcPr marL="88900" marR="889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000" dirty="0">
                          <a:solidFill>
                            <a:srgbClr val="3C4A52"/>
                          </a:solidFill>
                          <a:latin typeface="맑은 고딕" pitchFamily="34" charset="0"/>
                          <a:ea typeface="맑은 고딕" pitchFamily="34" charset="-122"/>
                          <a:cs typeface="맑은 고딕" pitchFamily="34" charset="-120"/>
                        </a:rPr>
                        <a:t>대표 서버가 멈췄다가 다시 살아나도 잘못된 처리가 발생하지 않는지 확인</a:t>
                      </a:r>
                      <a:endParaRPr lang="en-US" sz="1000" dirty="0">
                        <a:latin typeface="맑은 고딕" charset="0"/>
                        <a:ea typeface="맑은 고딕" charset="0"/>
                        <a:cs typeface="맑은 고딕" charset="0"/>
                      </a:endParaRPr>
                    </a:p>
                  </a:txBody>
                  <a:tcPr marL="88900" marR="889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000" b="1" dirty="0">
                          <a:solidFill>
                            <a:srgbClr val="2F6B54"/>
                          </a:solidFill>
                          <a:latin typeface="맑은 고딕" pitchFamily="34" charset="0"/>
                          <a:ea typeface="맑은 고딕" pitchFamily="34" charset="-122"/>
                          <a:cs typeface="맑은 고딕" pitchFamily="34" charset="-120"/>
                        </a:rPr>
                        <a:t>PASS · 약 10.2초 만에 복구, 오류 0건</a:t>
                      </a:r>
                      <a:endParaRPr lang="en-US" sz="1000" dirty="0">
                        <a:latin typeface="맑은 고딕" charset="0"/>
                        <a:ea typeface="맑은 고딕" charset="0"/>
                        <a:cs typeface="맑은 고딕" charset="0"/>
                      </a:endParaRPr>
                    </a:p>
                  </a:txBody>
                  <a:tcPr marL="88900" marR="889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r>
              <a:tr h="301752">
                <a:tc>
                  <a:txBody>
                    <a:bodyPr/>
                    <a:lstStyle/>
                    <a:p>
                      <a:pPr algn="ctr" indent="0" marL="0">
                        <a:buNone/>
                      </a:pPr>
                      <a:r>
                        <a:rPr lang="en-US" sz="1050" b="1" dirty="0">
                          <a:solidFill>
                            <a:srgbClr val="1B2429"/>
                          </a:solidFill>
                          <a:latin typeface="맑은 고딕" pitchFamily="34" charset="0"/>
                          <a:ea typeface="맑은 고딕" pitchFamily="34" charset="-122"/>
                          <a:cs typeface="맑은 고딕" pitchFamily="34" charset="-120"/>
                        </a:rPr>
                        <a:t>E8</a:t>
                      </a:r>
                      <a:endParaRPr lang="en-US" sz="1050" dirty="0">
                        <a:latin typeface="맑은 고딕" charset="0"/>
                        <a:ea typeface="맑은 고딕" charset="0"/>
                        <a:cs typeface="맑은 고딕" charset="0"/>
                      </a:endParaRPr>
                    </a:p>
                  </a:txBody>
                  <a:tcPr marL="88900" marR="889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000" dirty="0">
                          <a:solidFill>
                            <a:srgbClr val="3C4A52"/>
                          </a:solidFill>
                          <a:latin typeface="맑은 고딕" pitchFamily="34" charset="0"/>
                          <a:ea typeface="맑은 고딕" pitchFamily="34" charset="-122"/>
                          <a:cs typeface="맑은 고딕" pitchFamily="34" charset="-120"/>
                        </a:rPr>
                        <a:t>앱 내부에 오류를 일부러 발생시켜도 정상 복구되는지 확인</a:t>
                      </a:r>
                      <a:endParaRPr lang="en-US" sz="1000" dirty="0">
                        <a:latin typeface="맑은 고딕" charset="0"/>
                        <a:ea typeface="맑은 고딕" charset="0"/>
                        <a:cs typeface="맑은 고딕" charset="0"/>
                      </a:endParaRPr>
                    </a:p>
                  </a:txBody>
                  <a:tcPr marL="88900" marR="889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000" b="1" dirty="0">
                          <a:solidFill>
                            <a:srgbClr val="7A8A93"/>
                          </a:solidFill>
                          <a:latin typeface="맑은 고딕" pitchFamily="34" charset="0"/>
                          <a:ea typeface="맑은 고딕" pitchFamily="34" charset="-122"/>
                          <a:cs typeface="맑은 고딕" pitchFamily="34" charset="-120"/>
                        </a:rPr>
                        <a:t>준비 완료 · 라이브 기록 아직 없음</a:t>
                      </a:r>
                      <a:endParaRPr lang="en-US" sz="1000" dirty="0">
                        <a:latin typeface="맑은 고딕" charset="0"/>
                        <a:ea typeface="맑은 고딕" charset="0"/>
                        <a:cs typeface="맑은 고딕" charset="0"/>
                      </a:endParaRPr>
                    </a:p>
                  </a:txBody>
                  <a:tcPr marL="88900" marR="889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r>
              <a:tr h="301752">
                <a:tc>
                  <a:txBody>
                    <a:bodyPr/>
                    <a:lstStyle/>
                    <a:p>
                      <a:pPr algn="ctr" indent="0" marL="0">
                        <a:buNone/>
                      </a:pPr>
                      <a:r>
                        <a:rPr lang="en-US" sz="1050" b="1" dirty="0">
                          <a:solidFill>
                            <a:srgbClr val="1B2429"/>
                          </a:solidFill>
                          <a:latin typeface="맑은 고딕" pitchFamily="34" charset="0"/>
                          <a:ea typeface="맑은 고딕" pitchFamily="34" charset="-122"/>
                          <a:cs typeface="맑은 고딕" pitchFamily="34" charset="-120"/>
                        </a:rPr>
                        <a:t>E9</a:t>
                      </a:r>
                      <a:endParaRPr lang="en-US" sz="1050" dirty="0">
                        <a:latin typeface="맑은 고딕" charset="0"/>
                        <a:ea typeface="맑은 고딕" charset="0"/>
                        <a:cs typeface="맑은 고딕" charset="0"/>
                      </a:endParaRPr>
                    </a:p>
                  </a:txBody>
                  <a:tcPr marL="88900" marR="889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000" dirty="0">
                          <a:solidFill>
                            <a:srgbClr val="3C4A52"/>
                          </a:solidFill>
                          <a:latin typeface="맑은 고딕" pitchFamily="34" charset="0"/>
                          <a:ea typeface="맑은 고딕" pitchFamily="34" charset="-122"/>
                          <a:cs typeface="맑은 고딕" pitchFamily="34" charset="-120"/>
                        </a:rPr>
                        <a:t>처리 완료 후 응답만 끊겨도 중복 처리가 발생하지 않는지 확인</a:t>
                      </a:r>
                      <a:endParaRPr lang="en-US" sz="1000" dirty="0">
                        <a:latin typeface="맑은 고딕" charset="0"/>
                        <a:ea typeface="맑은 고딕" charset="0"/>
                        <a:cs typeface="맑은 고딕" charset="0"/>
                      </a:endParaRPr>
                    </a:p>
                  </a:txBody>
                  <a:tcPr marL="88900" marR="889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000" b="1" dirty="0">
                          <a:solidFill>
                            <a:srgbClr val="2F6B54"/>
                          </a:solidFill>
                          <a:latin typeface="맑은 고딕" pitchFamily="34" charset="0"/>
                          <a:ea typeface="맑은 고딕" pitchFamily="34" charset="-122"/>
                          <a:cs typeface="맑은 고딕" pitchFamily="34" charset="-120"/>
                        </a:rPr>
                        <a:t>PASS · 다만 증거 신뢰도는 낮음</a:t>
                      </a:r>
                      <a:endParaRPr lang="en-US" sz="1000" dirty="0">
                        <a:latin typeface="맑은 고딕" charset="0"/>
                        <a:ea typeface="맑은 고딕" charset="0"/>
                        <a:cs typeface="맑은 고딕" charset="0"/>
                      </a:endParaRPr>
                    </a:p>
                  </a:txBody>
                  <a:tcPr marL="88900" marR="889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r>
              <a:tr h="301752">
                <a:tc>
                  <a:txBody>
                    <a:bodyPr/>
                    <a:lstStyle/>
                    <a:p>
                      <a:pPr algn="ctr" indent="0" marL="0">
                        <a:buNone/>
                      </a:pPr>
                      <a:r>
                        <a:rPr lang="en-US" sz="1050" b="1" dirty="0">
                          <a:solidFill>
                            <a:srgbClr val="1B2429"/>
                          </a:solidFill>
                          <a:latin typeface="맑은 고딕" pitchFamily="34" charset="0"/>
                          <a:ea typeface="맑은 고딕" pitchFamily="34" charset="-122"/>
                          <a:cs typeface="맑은 고딕" pitchFamily="34" charset="-120"/>
                        </a:rPr>
                        <a:t>E10</a:t>
                      </a:r>
                      <a:endParaRPr lang="en-US" sz="1050" dirty="0">
                        <a:latin typeface="맑은 고딕" charset="0"/>
                        <a:ea typeface="맑은 고딕" charset="0"/>
                        <a:cs typeface="맑은 고딕" charset="0"/>
                      </a:endParaRPr>
                    </a:p>
                  </a:txBody>
                  <a:tcPr marL="88900" marR="889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000" dirty="0">
                          <a:solidFill>
                            <a:srgbClr val="3C4A52"/>
                          </a:solidFill>
                          <a:latin typeface="맑은 고딕" pitchFamily="34" charset="0"/>
                          <a:ea typeface="맑은 고딕" pitchFamily="34" charset="-122"/>
                          <a:cs typeface="맑은 고딕" pitchFamily="34" charset="-120"/>
                        </a:rPr>
                        <a:t>실제 네트워크 장애를 만들어도 데이터 오류 없이 원인을 확인할 수 있는지 검증</a:t>
                      </a:r>
                      <a:endParaRPr lang="en-US" sz="1000" dirty="0">
                        <a:latin typeface="맑은 고딕" charset="0"/>
                        <a:ea typeface="맑은 고딕" charset="0"/>
                        <a:cs typeface="맑은 고딕" charset="0"/>
                      </a:endParaRPr>
                    </a:p>
                  </a:txBody>
                  <a:tcPr marL="88900" marR="889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c>
                  <a:txBody>
                    <a:bodyPr/>
                    <a:lstStyle/>
                    <a:p>
                      <a:pPr indent="0" marL="0">
                        <a:buNone/>
                      </a:pPr>
                      <a:r>
                        <a:rPr lang="en-US" sz="1000" b="1" dirty="0">
                          <a:solidFill>
                            <a:srgbClr val="B33A32"/>
                          </a:solidFill>
                          <a:latin typeface="맑은 고딕" pitchFamily="34" charset="0"/>
                          <a:ea typeface="맑은 고딕" pitchFamily="34" charset="-122"/>
                          <a:cs typeface="맑은 고딕" pitchFamily="34" charset="-120"/>
                        </a:rPr>
                        <a:t>미실시 · 09-30 ~ 10-06 목표</a:t>
                      </a:r>
                      <a:endParaRPr lang="en-US" sz="1000" dirty="0">
                        <a:latin typeface="맑은 고딕" charset="0"/>
                        <a:ea typeface="맑은 고딕" charset="0"/>
                        <a:cs typeface="맑은 고딕" charset="0"/>
                      </a:endParaRPr>
                    </a:p>
                  </a:txBody>
                  <a:tcPr marL="88900" marR="88900" marT="38100" marB="38100" anchor="ctr">
                    <a:lnL w="6350" cap="flat" cmpd="sng" algn="ctr">
                      <a:solidFill>
                        <a:srgbClr val="D8DEE2"/>
                      </a:solidFill>
                      <a:prstDash val="solid"/>
                      <a:round/>
                      <a:headEnd type="none" w="med" len="med"/>
                      <a:tailEnd type="none" w="med" len="med"/>
                    </a:lnL>
                    <a:lnR w="6350" cap="flat" cmpd="sng" algn="ctr">
                      <a:solidFill>
                        <a:srgbClr val="D8DEE2"/>
                      </a:solidFill>
                      <a:prstDash val="solid"/>
                      <a:round/>
                      <a:headEnd type="none" w="med" len="med"/>
                      <a:tailEnd type="none" w="med" len="med"/>
                    </a:lnR>
                    <a:lnT w="6350" cap="flat" cmpd="sng" algn="ctr">
                      <a:solidFill>
                        <a:srgbClr val="D8DEE2"/>
                      </a:solidFill>
                      <a:prstDash val="solid"/>
                      <a:round/>
                      <a:headEnd type="none" w="med" len="med"/>
                      <a:tailEnd type="none" w="med" len="med"/>
                    </a:lnT>
                    <a:lnB w="6350" cap="flat" cmpd="sng" algn="ctr">
                      <a:solidFill>
                        <a:srgbClr val="D8DEE2"/>
                      </a:solidFill>
                      <a:prstDash val="solid"/>
                      <a:round/>
                      <a:headEnd type="none" w="med" len="med"/>
                      <a:tailEnd type="none" w="med" len="med"/>
                    </a:lnB>
                  </a:tcPr>
                </a:tc>
              </a:tr>
            </a:tbl>
          </a:graphicData>
        </a:graphic>
      </p:graphicFrame>
      <p:sp>
        <p:nvSpPr>
          <p:cNvPr id="6" name="Text 3"/>
          <p:cNvSpPr/>
          <p:nvPr/>
        </p:nvSpPr>
        <p:spPr>
          <a:xfrm>
            <a:off x="566928" y="4956048"/>
            <a:ext cx="11057839" cy="832104"/>
          </a:xfrm>
          <a:prstGeom prst="rect">
            <a:avLst/>
          </a:prstGeom>
          <a:noFill/>
          <a:ln/>
        </p:spPr>
        <p:txBody>
          <a:bodyPr wrap="square" lIns="0" tIns="0" rIns="0" bIns="0" rtlCol="0" anchor="ctr"/>
          <a:lstStyle/>
          <a:p>
            <a:pPr marL="342900" indent="-342900">
              <a:lnSpc>
                <a:spcPts val="2000"/>
              </a:lnSpc>
              <a:spcAft>
                <a:spcPts val="500"/>
              </a:spcAft>
              <a:buSzPct val="100000"/>
              <a:buChar char="–"/>
            </a:pPr>
            <a:r>
              <a:rPr lang="en-US" sz="1250" dirty="0">
                <a:solidFill>
                  <a:srgbClr val="3C4A52"/>
                </a:solidFill>
                <a:latin typeface="맑은 고딕" pitchFamily="34" charset="0"/>
                <a:ea typeface="맑은 고딕" pitchFamily="34" charset="-122"/>
                <a:cs typeface="맑은 고딕" pitchFamily="34" charset="-120"/>
              </a:rPr>
              <a:t>라이브 PASS 6건. E5·E7은 불변식 C01~C23 전건 0위반이었다</a:t>
            </a:r>
            <a:endParaRPr lang="en-US" sz="1250" dirty="0"/>
          </a:p>
          <a:p>
            <a:pPr marL="342900" indent="-342900">
              <a:lnSpc>
                <a:spcPts val="2000"/>
              </a:lnSpc>
              <a:spcAft>
                <a:spcPts val="500"/>
              </a:spcAft>
              <a:buSzPct val="100000"/>
              <a:buChar char="–"/>
            </a:pPr>
            <a:r>
              <a:rPr lang="en-US" sz="1250" dirty="0">
                <a:solidFill>
                  <a:srgbClr val="3C4A52"/>
                </a:solidFill>
                <a:latin typeface="맑은 고딕" pitchFamily="34" charset="0"/>
                <a:ea typeface="맑은 고딕" pitchFamily="34" charset="-122"/>
                <a:cs typeface="맑은 고딕" pitchFamily="34" charset="-120"/>
              </a:rPr>
              <a:t>E1~E9는 전부 프록시 모사다. 커널에 직접 넣는 것은 E10이 처음이다</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22E35"/>
        </a:solidFill>
      </p:bgPr>
    </p:bg>
    <p:spTree>
      <p:nvGrpSpPr>
        <p:cNvPr id="1" name=""/>
        <p:cNvGrpSpPr/>
        <p:nvPr/>
      </p:nvGrpSpPr>
      <p:grpSpPr>
        <a:xfrm>
          <a:off x="0" y="0"/>
          <a:ext cx="0" cy="0"/>
          <a:chOff x="0" y="0"/>
          <a:chExt cx="0" cy="0"/>
        </a:xfrm>
      </p:grpSpPr>
      <p:sp>
        <p:nvSpPr>
          <p:cNvPr id="2" name="Text 0"/>
          <p:cNvSpPr/>
          <p:nvPr/>
        </p:nvSpPr>
        <p:spPr>
          <a:xfrm>
            <a:off x="566928" y="384048"/>
            <a:ext cx="10051999" cy="566928"/>
          </a:xfrm>
          <a:prstGeom prst="rect">
            <a:avLst/>
          </a:prstGeom>
          <a:noFill/>
          <a:ln/>
        </p:spPr>
        <p:txBody>
          <a:bodyPr wrap="square" lIns="0" tIns="0" rIns="0" bIns="0" rtlCol="0" anchor="ctr"/>
          <a:lstStyle/>
          <a:p>
            <a:pPr indent="0" marL="0">
              <a:buNone/>
            </a:pPr>
            <a:r>
              <a:rPr lang="en-US" sz="3100" b="1" dirty="0">
                <a:solidFill>
                  <a:srgbClr val="FFFFFF"/>
                </a:solidFill>
                <a:latin typeface="맑은 고딕" pitchFamily="34" charset="0"/>
                <a:ea typeface="맑은 고딕" pitchFamily="34" charset="-122"/>
                <a:cs typeface="맑은 고딕" pitchFamily="34" charset="-120"/>
              </a:rPr>
              <a:t>일정과 완료 기준</a:t>
            </a:r>
            <a:endParaRPr lang="en-US" sz="3100" dirty="0"/>
          </a:p>
        </p:txBody>
      </p:sp>
      <p:sp>
        <p:nvSpPr>
          <p:cNvPr id="3" name="Text 1"/>
          <p:cNvSpPr/>
          <p:nvPr/>
        </p:nvSpPr>
        <p:spPr>
          <a:xfrm>
            <a:off x="10847527" y="384048"/>
            <a:ext cx="777240" cy="566928"/>
          </a:xfrm>
          <a:prstGeom prst="rect">
            <a:avLst/>
          </a:prstGeom>
          <a:noFill/>
          <a:ln/>
        </p:spPr>
        <p:txBody>
          <a:bodyPr wrap="square" lIns="0" tIns="0" rIns="0" bIns="0" rtlCol="0" anchor="ctr"/>
          <a:lstStyle/>
          <a:p>
            <a:pPr algn="r" indent="0" marL="0">
              <a:buNone/>
            </a:pPr>
            <a:r>
              <a:rPr lang="en-US" sz="3100" b="1" dirty="0">
                <a:solidFill>
                  <a:srgbClr val="4A5B66"/>
                </a:solidFill>
                <a:latin typeface="맑은 고딕" pitchFamily="34" charset="0"/>
                <a:ea typeface="맑은 고딕" pitchFamily="34" charset="-122"/>
                <a:cs typeface="맑은 고딕" pitchFamily="34" charset="-120"/>
              </a:rPr>
              <a:t>08</a:t>
            </a:r>
            <a:endParaRPr lang="en-US" sz="3100" dirty="0"/>
          </a:p>
        </p:txBody>
      </p:sp>
      <p:sp>
        <p:nvSpPr>
          <p:cNvPr id="4" name="Text 2"/>
          <p:cNvSpPr/>
          <p:nvPr/>
        </p:nvSpPr>
        <p:spPr>
          <a:xfrm>
            <a:off x="566928" y="969264"/>
            <a:ext cx="11057839" cy="384048"/>
          </a:xfrm>
          <a:prstGeom prst="rect">
            <a:avLst/>
          </a:prstGeom>
          <a:noFill/>
          <a:ln/>
        </p:spPr>
        <p:txBody>
          <a:bodyPr wrap="square" lIns="0" tIns="0" rIns="0" bIns="0" rtlCol="0" anchor="ctr"/>
          <a:lstStyle/>
          <a:p>
            <a:pPr indent="0" marL="0">
              <a:buNone/>
            </a:pPr>
            <a:r>
              <a:rPr lang="en-US" sz="1450" i="1" dirty="0">
                <a:solidFill>
                  <a:srgbClr val="AFC0C9"/>
                </a:solidFill>
                <a:latin typeface="맑은 고딕" pitchFamily="34" charset="0"/>
                <a:ea typeface="맑은 고딕" pitchFamily="34" charset="-122"/>
                <a:cs typeface="맑은 고딕" pitchFamily="34" charset="-120"/>
              </a:rPr>
              <a:t>주 단위 완료 정의를 이진 판정하고 밀렸을 때 자를 순서를 미리 고정했다</a:t>
            </a:r>
            <a:endParaRPr lang="en-US" sz="1450" dirty="0"/>
          </a:p>
        </p:txBody>
      </p:sp>
      <p:sp>
        <p:nvSpPr>
          <p:cNvPr id="5" name="Shape 3"/>
          <p:cNvSpPr/>
          <p:nvPr/>
        </p:nvSpPr>
        <p:spPr>
          <a:xfrm>
            <a:off x="566928" y="2011680"/>
            <a:ext cx="11057839" cy="50292"/>
          </a:xfrm>
          <a:prstGeom prst="rect">
            <a:avLst/>
          </a:prstGeom>
          <a:solidFill>
            <a:srgbClr val="4A5B66"/>
          </a:solidFill>
          <a:ln/>
        </p:spPr>
      </p:sp>
      <p:sp>
        <p:nvSpPr>
          <p:cNvPr id="6" name="Shape 4"/>
          <p:cNvSpPr/>
          <p:nvPr/>
        </p:nvSpPr>
        <p:spPr>
          <a:xfrm>
            <a:off x="548640" y="1865376"/>
            <a:ext cx="50292" cy="347472"/>
          </a:xfrm>
          <a:prstGeom prst="rect">
            <a:avLst/>
          </a:prstGeom>
          <a:solidFill>
            <a:srgbClr val="B33A32"/>
          </a:solidFill>
          <a:ln/>
        </p:spPr>
      </p:sp>
      <p:sp>
        <p:nvSpPr>
          <p:cNvPr id="7" name="Text 5"/>
          <p:cNvSpPr/>
          <p:nvPr/>
        </p:nvSpPr>
        <p:spPr>
          <a:xfrm>
            <a:off x="-137160" y="1554480"/>
            <a:ext cx="146304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09-01</a:t>
            </a:r>
            <a:endParaRPr lang="en-US" sz="1100" dirty="0"/>
          </a:p>
        </p:txBody>
      </p:sp>
      <p:sp>
        <p:nvSpPr>
          <p:cNvPr id="8" name="Text 6"/>
          <p:cNvSpPr/>
          <p:nvPr/>
        </p:nvSpPr>
        <p:spPr>
          <a:xfrm>
            <a:off x="-320040" y="2249424"/>
            <a:ext cx="1828800" cy="256032"/>
          </a:xfrm>
          <a:prstGeom prst="rect">
            <a:avLst/>
          </a:prstGeom>
          <a:noFill/>
          <a:ln/>
        </p:spPr>
        <p:txBody>
          <a:bodyPr wrap="square" lIns="0" tIns="0" rIns="0" bIns="0" rtlCol="0" anchor="ctr"/>
          <a:lstStyle/>
          <a:p>
            <a:pPr algn="ctr" indent="0" marL="0">
              <a:buNone/>
            </a:pPr>
            <a:r>
              <a:rPr lang="en-US" sz="1000" dirty="0">
                <a:solidFill>
                  <a:srgbClr val="9FB3BE"/>
                </a:solidFill>
                <a:latin typeface="맑은 고딕" pitchFamily="34" charset="0"/>
                <a:ea typeface="맑은 고딕" pitchFamily="34" charset="-122"/>
                <a:cs typeface="맑은 고딕" pitchFamily="34" charset="-120"/>
              </a:rPr>
              <a:t>계획서 제출</a:t>
            </a:r>
            <a:endParaRPr lang="en-US" sz="1000" dirty="0"/>
          </a:p>
        </p:txBody>
      </p:sp>
      <p:sp>
        <p:nvSpPr>
          <p:cNvPr id="9" name="Shape 7"/>
          <p:cNvSpPr/>
          <p:nvPr/>
        </p:nvSpPr>
        <p:spPr>
          <a:xfrm>
            <a:off x="2649629" y="1865376"/>
            <a:ext cx="50292" cy="347472"/>
          </a:xfrm>
          <a:prstGeom prst="rect">
            <a:avLst/>
          </a:prstGeom>
          <a:solidFill>
            <a:srgbClr val="B33A32"/>
          </a:solidFill>
          <a:ln/>
        </p:spPr>
      </p:sp>
      <p:sp>
        <p:nvSpPr>
          <p:cNvPr id="10" name="Text 8"/>
          <p:cNvSpPr/>
          <p:nvPr/>
        </p:nvSpPr>
        <p:spPr>
          <a:xfrm>
            <a:off x="1963829" y="1554480"/>
            <a:ext cx="146304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09-08</a:t>
            </a:r>
            <a:endParaRPr lang="en-US" sz="1100" dirty="0"/>
          </a:p>
        </p:txBody>
      </p:sp>
      <p:sp>
        <p:nvSpPr>
          <p:cNvPr id="11" name="Text 9"/>
          <p:cNvSpPr/>
          <p:nvPr/>
        </p:nvSpPr>
        <p:spPr>
          <a:xfrm>
            <a:off x="1780949" y="2249424"/>
            <a:ext cx="1828800" cy="256032"/>
          </a:xfrm>
          <a:prstGeom prst="rect">
            <a:avLst/>
          </a:prstGeom>
          <a:noFill/>
          <a:ln/>
        </p:spPr>
        <p:txBody>
          <a:bodyPr wrap="square" lIns="0" tIns="0" rIns="0" bIns="0" rtlCol="0" anchor="ctr"/>
          <a:lstStyle/>
          <a:p>
            <a:pPr algn="ctr" indent="0" marL="0">
              <a:buNone/>
            </a:pPr>
            <a:r>
              <a:rPr lang="en-US" sz="1000" dirty="0">
                <a:solidFill>
                  <a:srgbClr val="9FB3BE"/>
                </a:solidFill>
                <a:latin typeface="맑은 고딕" pitchFamily="34" charset="0"/>
                <a:ea typeface="맑은 고딕" pitchFamily="34" charset="-122"/>
                <a:cs typeface="맑은 고딕" pitchFamily="34" charset="-120"/>
              </a:rPr>
              <a:t>외부 접속 성립</a:t>
            </a:r>
            <a:endParaRPr lang="en-US" sz="1000" dirty="0"/>
          </a:p>
        </p:txBody>
      </p:sp>
      <p:sp>
        <p:nvSpPr>
          <p:cNvPr id="12" name="Shape 10"/>
          <p:cNvSpPr/>
          <p:nvPr/>
        </p:nvSpPr>
        <p:spPr>
          <a:xfrm>
            <a:off x="8510284" y="1865376"/>
            <a:ext cx="50292" cy="347472"/>
          </a:xfrm>
          <a:prstGeom prst="rect">
            <a:avLst/>
          </a:prstGeom>
          <a:solidFill>
            <a:srgbClr val="B33A32"/>
          </a:solidFill>
          <a:ln/>
        </p:spPr>
      </p:sp>
      <p:sp>
        <p:nvSpPr>
          <p:cNvPr id="13" name="Text 11"/>
          <p:cNvSpPr/>
          <p:nvPr/>
        </p:nvSpPr>
        <p:spPr>
          <a:xfrm>
            <a:off x="7824484" y="1554480"/>
            <a:ext cx="146304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10-09</a:t>
            </a:r>
            <a:endParaRPr lang="en-US" sz="1100" dirty="0"/>
          </a:p>
        </p:txBody>
      </p:sp>
      <p:sp>
        <p:nvSpPr>
          <p:cNvPr id="14" name="Text 12"/>
          <p:cNvSpPr/>
          <p:nvPr/>
        </p:nvSpPr>
        <p:spPr>
          <a:xfrm>
            <a:off x="7641604" y="2249424"/>
            <a:ext cx="1828800" cy="256032"/>
          </a:xfrm>
          <a:prstGeom prst="rect">
            <a:avLst/>
          </a:prstGeom>
          <a:noFill/>
          <a:ln/>
        </p:spPr>
        <p:txBody>
          <a:bodyPr wrap="square" lIns="0" tIns="0" rIns="0" bIns="0" rtlCol="0" anchor="ctr"/>
          <a:lstStyle/>
          <a:p>
            <a:pPr algn="ctr" indent="0" marL="0">
              <a:buNone/>
            </a:pPr>
            <a:r>
              <a:rPr lang="en-US" sz="1000" dirty="0">
                <a:solidFill>
                  <a:srgbClr val="9FB3BE"/>
                </a:solidFill>
                <a:latin typeface="맑은 고딕" pitchFamily="34" charset="0"/>
                <a:ea typeface="맑은 고딕" pitchFamily="34" charset="-122"/>
                <a:cs typeface="맑은 고딕" pitchFamily="34" charset="-120"/>
              </a:rPr>
              <a:t>기능 동결</a:t>
            </a:r>
            <a:endParaRPr lang="en-US" sz="1000" dirty="0"/>
          </a:p>
        </p:txBody>
      </p:sp>
      <p:sp>
        <p:nvSpPr>
          <p:cNvPr id="15" name="Shape 13"/>
          <p:cNvSpPr/>
          <p:nvPr/>
        </p:nvSpPr>
        <p:spPr>
          <a:xfrm>
            <a:off x="11606479" y="1865376"/>
            <a:ext cx="50292" cy="347472"/>
          </a:xfrm>
          <a:prstGeom prst="rect">
            <a:avLst/>
          </a:prstGeom>
          <a:solidFill>
            <a:srgbClr val="B33A32"/>
          </a:solidFill>
          <a:ln/>
        </p:spPr>
      </p:sp>
      <p:sp>
        <p:nvSpPr>
          <p:cNvPr id="16" name="Text 14"/>
          <p:cNvSpPr/>
          <p:nvPr/>
        </p:nvSpPr>
        <p:spPr>
          <a:xfrm>
            <a:off x="10920679" y="1554480"/>
            <a:ext cx="146304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10-16</a:t>
            </a:r>
            <a:endParaRPr lang="en-US" sz="1100" dirty="0"/>
          </a:p>
        </p:txBody>
      </p:sp>
      <p:sp>
        <p:nvSpPr>
          <p:cNvPr id="17" name="Text 15"/>
          <p:cNvSpPr/>
          <p:nvPr/>
        </p:nvSpPr>
        <p:spPr>
          <a:xfrm>
            <a:off x="10737799" y="2249424"/>
            <a:ext cx="1828800" cy="256032"/>
          </a:xfrm>
          <a:prstGeom prst="rect">
            <a:avLst/>
          </a:prstGeom>
          <a:noFill/>
          <a:ln/>
        </p:spPr>
        <p:txBody>
          <a:bodyPr wrap="square" lIns="0" tIns="0" rIns="0" bIns="0" rtlCol="0" anchor="ctr"/>
          <a:lstStyle/>
          <a:p>
            <a:pPr algn="ctr" indent="0" marL="0">
              <a:buNone/>
            </a:pPr>
            <a:r>
              <a:rPr lang="en-US" sz="1000" dirty="0">
                <a:solidFill>
                  <a:srgbClr val="9FB3BE"/>
                </a:solidFill>
                <a:latin typeface="맑은 고딕" pitchFamily="34" charset="0"/>
                <a:ea typeface="맑은 고딕" pitchFamily="34" charset="-122"/>
                <a:cs typeface="맑은 고딕" pitchFamily="34" charset="-120"/>
              </a:rPr>
              <a:t>최종 발표</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2798064"/>
          <a:ext cx="11057839" cy="914400"/>
        </p:xfrm>
        <a:graphic>
          <a:graphicData uri="http://schemas.openxmlformats.org/drawingml/2006/table">
            <a:tbl>
              <a:tblPr/>
              <a:tblGrid>
                <a:gridCol w="1371600"/>
                <a:gridCol w="3931920"/>
                <a:gridCol w="5760720"/>
              </a:tblGrid>
              <a:tr h="310896">
                <a:tc>
                  <a:txBody>
                    <a:bodyPr/>
                    <a:lstStyle/>
                    <a:p>
                      <a:pPr indent="0" marL="0">
                        <a:buNone/>
                      </a:pPr>
                      <a:r>
                        <a:rPr lang="en-US" sz="1100" b="1" dirty="0">
                          <a:solidFill>
                            <a:srgbClr val="FFFFFF"/>
                          </a:solidFill>
                          <a:latin typeface="맑은 고딕" pitchFamily="34" charset="0"/>
                          <a:ea typeface="맑은 고딕" pitchFamily="34" charset="-122"/>
                          <a:cs typeface="맑은 고딕" pitchFamily="34" charset="-120"/>
                        </a:rPr>
                        <a:t>주차</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5A6B75"/>
                      </a:solidFill>
                      <a:prstDash val="solid"/>
                      <a:round/>
                      <a:headEnd type="none" w="med" len="med"/>
                      <a:tailEnd type="none" w="med" len="med"/>
                    </a:lnL>
                    <a:lnR w="6350" cap="flat" cmpd="sng" algn="ctr">
                      <a:solidFill>
                        <a:srgbClr val="5A6B75"/>
                      </a:solidFill>
                      <a:prstDash val="solid"/>
                      <a:round/>
                      <a:headEnd type="none" w="med" len="med"/>
                      <a:tailEnd type="none" w="med" len="med"/>
                    </a:lnR>
                    <a:lnT w="6350" cap="flat" cmpd="sng" algn="ctr">
                      <a:solidFill>
                        <a:srgbClr val="5A6B75"/>
                      </a:solidFill>
                      <a:prstDash val="solid"/>
                      <a:round/>
                      <a:headEnd type="none" w="med" len="med"/>
                      <a:tailEnd type="none" w="med" len="med"/>
                    </a:lnT>
                    <a:lnB w="6350" cap="flat" cmpd="sng" algn="ctr">
                      <a:solidFill>
                        <a:srgbClr val="5A6B75"/>
                      </a:solidFill>
                      <a:prstDash val="solid"/>
                      <a:round/>
                      <a:headEnd type="none" w="med" len="med"/>
                      <a:tailEnd type="none" w="med" len="med"/>
                    </a:lnB>
                    <a:solidFill>
                      <a:srgbClr val="3D4E58"/>
                    </a:solidFill>
                  </a:tcPr>
                </a:tc>
                <a:tc>
                  <a:txBody>
                    <a:bodyPr/>
                    <a:lstStyle/>
                    <a:p>
                      <a:pPr indent="0" marL="0">
                        <a:buNone/>
                      </a:pPr>
                      <a:r>
                        <a:rPr lang="en-US" sz="1100" b="1" dirty="0">
                          <a:solidFill>
                            <a:srgbClr val="FFFFFF"/>
                          </a:solidFill>
                          <a:latin typeface="맑은 고딕" pitchFamily="34" charset="0"/>
                          <a:ea typeface="맑은 고딕" pitchFamily="34" charset="-122"/>
                          <a:cs typeface="맑은 고딕" pitchFamily="34" charset="-120"/>
                        </a:rPr>
                        <a:t>주제</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5A6B75"/>
                      </a:solidFill>
                      <a:prstDash val="solid"/>
                      <a:round/>
                      <a:headEnd type="none" w="med" len="med"/>
                      <a:tailEnd type="none" w="med" len="med"/>
                    </a:lnL>
                    <a:lnR w="6350" cap="flat" cmpd="sng" algn="ctr">
                      <a:solidFill>
                        <a:srgbClr val="5A6B75"/>
                      </a:solidFill>
                      <a:prstDash val="solid"/>
                      <a:round/>
                      <a:headEnd type="none" w="med" len="med"/>
                      <a:tailEnd type="none" w="med" len="med"/>
                    </a:lnR>
                    <a:lnT w="6350" cap="flat" cmpd="sng" algn="ctr">
                      <a:solidFill>
                        <a:srgbClr val="5A6B75"/>
                      </a:solidFill>
                      <a:prstDash val="solid"/>
                      <a:round/>
                      <a:headEnd type="none" w="med" len="med"/>
                      <a:tailEnd type="none" w="med" len="med"/>
                    </a:lnT>
                    <a:lnB w="6350" cap="flat" cmpd="sng" algn="ctr">
                      <a:solidFill>
                        <a:srgbClr val="5A6B75"/>
                      </a:solidFill>
                      <a:prstDash val="solid"/>
                      <a:round/>
                      <a:headEnd type="none" w="med" len="med"/>
                      <a:tailEnd type="none" w="med" len="med"/>
                    </a:lnB>
                    <a:solidFill>
                      <a:srgbClr val="3D4E58"/>
                    </a:solidFill>
                  </a:tcPr>
                </a:tc>
                <a:tc>
                  <a:txBody>
                    <a:bodyPr/>
                    <a:lstStyle/>
                    <a:p>
                      <a:pPr indent="0" marL="0">
                        <a:buNone/>
                      </a:pPr>
                      <a:r>
                        <a:rPr lang="en-US" sz="1100" b="1" dirty="0">
                          <a:solidFill>
                            <a:srgbClr val="FFFFFF"/>
                          </a:solidFill>
                          <a:latin typeface="맑은 고딕" pitchFamily="34" charset="0"/>
                          <a:ea typeface="맑은 고딕" pitchFamily="34" charset="-122"/>
                          <a:cs typeface="맑은 고딕" pitchFamily="34" charset="-120"/>
                        </a:rPr>
                        <a:t>완료 정의</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5A6B75"/>
                      </a:solidFill>
                      <a:prstDash val="solid"/>
                      <a:round/>
                      <a:headEnd type="none" w="med" len="med"/>
                      <a:tailEnd type="none" w="med" len="med"/>
                    </a:lnL>
                    <a:lnR w="6350" cap="flat" cmpd="sng" algn="ctr">
                      <a:solidFill>
                        <a:srgbClr val="5A6B75"/>
                      </a:solidFill>
                      <a:prstDash val="solid"/>
                      <a:round/>
                      <a:headEnd type="none" w="med" len="med"/>
                      <a:tailEnd type="none" w="med" len="med"/>
                    </a:lnR>
                    <a:lnT w="6350" cap="flat" cmpd="sng" algn="ctr">
                      <a:solidFill>
                        <a:srgbClr val="5A6B75"/>
                      </a:solidFill>
                      <a:prstDash val="solid"/>
                      <a:round/>
                      <a:headEnd type="none" w="med" len="med"/>
                      <a:tailEnd type="none" w="med" len="med"/>
                    </a:lnT>
                    <a:lnB w="6350" cap="flat" cmpd="sng" algn="ctr">
                      <a:solidFill>
                        <a:srgbClr val="5A6B75"/>
                      </a:solidFill>
                      <a:prstDash val="solid"/>
                      <a:round/>
                      <a:headEnd type="none" w="med" len="med"/>
                      <a:tailEnd type="none" w="med" len="med"/>
                    </a:lnB>
                    <a:solidFill>
                      <a:srgbClr val="3D4E58"/>
                    </a:solidFill>
                  </a:tcPr>
                </a:tc>
              </a:tr>
              <a:tr h="310896">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W0~W1</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5A6B75"/>
                      </a:solidFill>
                      <a:prstDash val="solid"/>
                      <a:round/>
                      <a:headEnd type="none" w="med" len="med"/>
                      <a:tailEnd type="none" w="med" len="med"/>
                    </a:lnL>
                    <a:lnR w="6350" cap="flat" cmpd="sng" algn="ctr">
                      <a:solidFill>
                        <a:srgbClr val="5A6B75"/>
                      </a:solidFill>
                      <a:prstDash val="solid"/>
                      <a:round/>
                      <a:headEnd type="none" w="med" len="med"/>
                      <a:tailEnd type="none" w="med" len="med"/>
                    </a:lnR>
                    <a:lnT w="6350" cap="flat" cmpd="sng" algn="ctr">
                      <a:solidFill>
                        <a:srgbClr val="5A6B75"/>
                      </a:solidFill>
                      <a:prstDash val="solid"/>
                      <a:round/>
                      <a:headEnd type="none" w="med" len="med"/>
                      <a:tailEnd type="none" w="med" len="med"/>
                    </a:lnT>
                    <a:lnB w="6350" cap="flat" cmpd="sng" algn="ctr">
                      <a:solidFill>
                        <a:srgbClr val="5A6B75"/>
                      </a:solidFill>
                      <a:prstDash val="solid"/>
                      <a:round/>
                      <a:headEnd type="none" w="med" len="med"/>
                      <a:tailEnd type="none" w="med" len="med"/>
                    </a:lnB>
                    <a:solidFill>
                      <a:srgbClr val="F7F9FA"/>
                    </a:solidFill>
                  </a:tcPr>
                </a:tc>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클라우드 착지, 방화벽</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5A6B75"/>
                      </a:solidFill>
                      <a:prstDash val="solid"/>
                      <a:round/>
                      <a:headEnd type="none" w="med" len="med"/>
                      <a:tailEnd type="none" w="med" len="med"/>
                    </a:lnL>
                    <a:lnR w="6350" cap="flat" cmpd="sng" algn="ctr">
                      <a:solidFill>
                        <a:srgbClr val="5A6B75"/>
                      </a:solidFill>
                      <a:prstDash val="solid"/>
                      <a:round/>
                      <a:headEnd type="none" w="med" len="med"/>
                      <a:tailEnd type="none" w="med" len="med"/>
                    </a:lnR>
                    <a:lnT w="6350" cap="flat" cmpd="sng" algn="ctr">
                      <a:solidFill>
                        <a:srgbClr val="5A6B75"/>
                      </a:solidFill>
                      <a:prstDash val="solid"/>
                      <a:round/>
                      <a:headEnd type="none" w="med" len="med"/>
                      <a:tailEnd type="none" w="med" len="med"/>
                    </a:lnT>
                    <a:lnB w="6350" cap="flat" cmpd="sng" algn="ctr">
                      <a:solidFill>
                        <a:srgbClr val="5A6B75"/>
                      </a:solidFill>
                      <a:prstDash val="solid"/>
                      <a:round/>
                      <a:headEnd type="none" w="med" len="med"/>
                      <a:tailEnd type="none" w="med" len="med"/>
                    </a:lnB>
                    <a:solidFill>
                      <a:srgbClr val="F7F9FA"/>
                    </a:solidFill>
                  </a:tcPr>
                </a:tc>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도메인 HTTPS 200, 외부 nmap 차단 확인</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5A6B75"/>
                      </a:solidFill>
                      <a:prstDash val="solid"/>
                      <a:round/>
                      <a:headEnd type="none" w="med" len="med"/>
                      <a:tailEnd type="none" w="med" len="med"/>
                    </a:lnL>
                    <a:lnR w="6350" cap="flat" cmpd="sng" algn="ctr">
                      <a:solidFill>
                        <a:srgbClr val="5A6B75"/>
                      </a:solidFill>
                      <a:prstDash val="solid"/>
                      <a:round/>
                      <a:headEnd type="none" w="med" len="med"/>
                      <a:tailEnd type="none" w="med" len="med"/>
                    </a:lnR>
                    <a:lnT w="6350" cap="flat" cmpd="sng" algn="ctr">
                      <a:solidFill>
                        <a:srgbClr val="5A6B75"/>
                      </a:solidFill>
                      <a:prstDash val="solid"/>
                      <a:round/>
                      <a:headEnd type="none" w="med" len="med"/>
                      <a:tailEnd type="none" w="med" len="med"/>
                    </a:lnT>
                    <a:lnB w="6350" cap="flat" cmpd="sng" algn="ctr">
                      <a:solidFill>
                        <a:srgbClr val="5A6B75"/>
                      </a:solidFill>
                      <a:prstDash val="solid"/>
                      <a:round/>
                      <a:headEnd type="none" w="med" len="med"/>
                      <a:tailEnd type="none" w="med" len="med"/>
                    </a:lnB>
                    <a:solidFill>
                      <a:srgbClr val="F7F9FA"/>
                    </a:solidFill>
                  </a:tcPr>
                </a:tc>
              </a:tr>
              <a:tr h="310896">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W2~W3</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5A6B75"/>
                      </a:solidFill>
                      <a:prstDash val="solid"/>
                      <a:round/>
                      <a:headEnd type="none" w="med" len="med"/>
                      <a:tailEnd type="none" w="med" len="med"/>
                    </a:lnL>
                    <a:lnR w="6350" cap="flat" cmpd="sng" algn="ctr">
                      <a:solidFill>
                        <a:srgbClr val="5A6B75"/>
                      </a:solidFill>
                      <a:prstDash val="solid"/>
                      <a:round/>
                      <a:headEnd type="none" w="med" len="med"/>
                      <a:tailEnd type="none" w="med" len="med"/>
                    </a:lnR>
                    <a:lnT w="6350" cap="flat" cmpd="sng" algn="ctr">
                      <a:solidFill>
                        <a:srgbClr val="5A6B75"/>
                      </a:solidFill>
                      <a:prstDash val="solid"/>
                      <a:round/>
                      <a:headEnd type="none" w="med" len="med"/>
                      <a:tailEnd type="none" w="med" len="med"/>
                    </a:lnT>
                    <a:lnB w="6350" cap="flat" cmpd="sng" algn="ctr">
                      <a:solidFill>
                        <a:srgbClr val="5A6B75"/>
                      </a:solidFill>
                      <a:prstDash val="solid"/>
                      <a:round/>
                      <a:headEnd type="none" w="med" len="med"/>
                      <a:tailEnd type="none" w="med" len="med"/>
                    </a:lnB>
                    <a:solidFill>
                      <a:srgbClr val="F7F9FA"/>
                    </a:solidFill>
                  </a:tcPr>
                </a:tc>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관측 하단, 부하·분산</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5A6B75"/>
                      </a:solidFill>
                      <a:prstDash val="solid"/>
                      <a:round/>
                      <a:headEnd type="none" w="med" len="med"/>
                      <a:tailEnd type="none" w="med" len="med"/>
                    </a:lnL>
                    <a:lnR w="6350" cap="flat" cmpd="sng" algn="ctr">
                      <a:solidFill>
                        <a:srgbClr val="5A6B75"/>
                      </a:solidFill>
                      <a:prstDash val="solid"/>
                      <a:round/>
                      <a:headEnd type="none" w="med" len="med"/>
                      <a:tailEnd type="none" w="med" len="med"/>
                    </a:lnR>
                    <a:lnT w="6350" cap="flat" cmpd="sng" algn="ctr">
                      <a:solidFill>
                        <a:srgbClr val="5A6B75"/>
                      </a:solidFill>
                      <a:prstDash val="solid"/>
                      <a:round/>
                      <a:headEnd type="none" w="med" len="med"/>
                      <a:tailEnd type="none" w="med" len="med"/>
                    </a:lnT>
                    <a:lnB w="6350" cap="flat" cmpd="sng" algn="ctr">
                      <a:solidFill>
                        <a:srgbClr val="5A6B75"/>
                      </a:solidFill>
                      <a:prstDash val="solid"/>
                      <a:round/>
                      <a:headEnd type="none" w="med" len="med"/>
                      <a:tailEnd type="none" w="med" len="med"/>
                    </a:lnB>
                    <a:solidFill>
                      <a:srgbClr val="F7F9FA"/>
                    </a:solidFill>
                  </a:tcPr>
                </a:tc>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계층 3종 down 순서 판독, k6 exit code</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5A6B75"/>
                      </a:solidFill>
                      <a:prstDash val="solid"/>
                      <a:round/>
                      <a:headEnd type="none" w="med" len="med"/>
                      <a:tailEnd type="none" w="med" len="med"/>
                    </a:lnL>
                    <a:lnR w="6350" cap="flat" cmpd="sng" algn="ctr">
                      <a:solidFill>
                        <a:srgbClr val="5A6B75"/>
                      </a:solidFill>
                      <a:prstDash val="solid"/>
                      <a:round/>
                      <a:headEnd type="none" w="med" len="med"/>
                      <a:tailEnd type="none" w="med" len="med"/>
                    </a:lnR>
                    <a:lnT w="6350" cap="flat" cmpd="sng" algn="ctr">
                      <a:solidFill>
                        <a:srgbClr val="5A6B75"/>
                      </a:solidFill>
                      <a:prstDash val="solid"/>
                      <a:round/>
                      <a:headEnd type="none" w="med" len="med"/>
                      <a:tailEnd type="none" w="med" len="med"/>
                    </a:lnT>
                    <a:lnB w="6350" cap="flat" cmpd="sng" algn="ctr">
                      <a:solidFill>
                        <a:srgbClr val="5A6B75"/>
                      </a:solidFill>
                      <a:prstDash val="solid"/>
                      <a:round/>
                      <a:headEnd type="none" w="med" len="med"/>
                      <a:tailEnd type="none" w="med" len="med"/>
                    </a:lnB>
                    <a:solidFill>
                      <a:srgbClr val="F7F9FA"/>
                    </a:solidFill>
                  </a:tcPr>
                </a:tc>
              </a:tr>
              <a:tr h="310896">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W4~W5</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5A6B75"/>
                      </a:solidFill>
                      <a:prstDash val="solid"/>
                      <a:round/>
                      <a:headEnd type="none" w="med" len="med"/>
                      <a:tailEnd type="none" w="med" len="med"/>
                    </a:lnL>
                    <a:lnR w="6350" cap="flat" cmpd="sng" algn="ctr">
                      <a:solidFill>
                        <a:srgbClr val="5A6B75"/>
                      </a:solidFill>
                      <a:prstDash val="solid"/>
                      <a:round/>
                      <a:headEnd type="none" w="med" len="med"/>
                      <a:tailEnd type="none" w="med" len="med"/>
                    </a:lnR>
                    <a:lnT w="6350" cap="flat" cmpd="sng" algn="ctr">
                      <a:solidFill>
                        <a:srgbClr val="5A6B75"/>
                      </a:solidFill>
                      <a:prstDash val="solid"/>
                      <a:round/>
                      <a:headEnd type="none" w="med" len="med"/>
                      <a:tailEnd type="none" w="med" len="med"/>
                    </a:lnT>
                    <a:lnB w="6350" cap="flat" cmpd="sng" algn="ctr">
                      <a:solidFill>
                        <a:srgbClr val="5A6B75"/>
                      </a:solidFill>
                      <a:prstDash val="solid"/>
                      <a:round/>
                      <a:headEnd type="none" w="med" len="med"/>
                      <a:tailEnd type="none" w="med" len="med"/>
                    </a:lnB>
                    <a:solidFill>
                      <a:srgbClr val="F7F9FA"/>
                    </a:solidFill>
                  </a:tcPr>
                </a:tc>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DB 복제, 권한 분리, netem</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5A6B75"/>
                      </a:solidFill>
                      <a:prstDash val="solid"/>
                      <a:round/>
                      <a:headEnd type="none" w="med" len="med"/>
                      <a:tailEnd type="none" w="med" len="med"/>
                    </a:lnL>
                    <a:lnR w="6350" cap="flat" cmpd="sng" algn="ctr">
                      <a:solidFill>
                        <a:srgbClr val="5A6B75"/>
                      </a:solidFill>
                      <a:prstDash val="solid"/>
                      <a:round/>
                      <a:headEnd type="none" w="med" len="med"/>
                      <a:tailEnd type="none" w="med" len="med"/>
                    </a:lnR>
                    <a:lnT w="6350" cap="flat" cmpd="sng" algn="ctr">
                      <a:solidFill>
                        <a:srgbClr val="5A6B75"/>
                      </a:solidFill>
                      <a:prstDash val="solid"/>
                      <a:round/>
                      <a:headEnd type="none" w="med" len="med"/>
                      <a:tailEnd type="none" w="med" len="med"/>
                    </a:lnT>
                    <a:lnB w="6350" cap="flat" cmpd="sng" algn="ctr">
                      <a:solidFill>
                        <a:srgbClr val="5A6B75"/>
                      </a:solidFill>
                      <a:prstDash val="solid"/>
                      <a:round/>
                      <a:headEnd type="none" w="med" len="med"/>
                      <a:tailEnd type="none" w="med" len="med"/>
                    </a:lnB>
                    <a:solidFill>
                      <a:srgbClr val="F7F9FA"/>
                    </a:solidFill>
                  </a:tcPr>
                </a:tc>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streaming 1행, 42501 재현, E10 exit 0</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5A6B75"/>
                      </a:solidFill>
                      <a:prstDash val="solid"/>
                      <a:round/>
                      <a:headEnd type="none" w="med" len="med"/>
                      <a:tailEnd type="none" w="med" len="med"/>
                    </a:lnL>
                    <a:lnR w="6350" cap="flat" cmpd="sng" algn="ctr">
                      <a:solidFill>
                        <a:srgbClr val="5A6B75"/>
                      </a:solidFill>
                      <a:prstDash val="solid"/>
                      <a:round/>
                      <a:headEnd type="none" w="med" len="med"/>
                      <a:tailEnd type="none" w="med" len="med"/>
                    </a:lnR>
                    <a:lnT w="6350" cap="flat" cmpd="sng" algn="ctr">
                      <a:solidFill>
                        <a:srgbClr val="5A6B75"/>
                      </a:solidFill>
                      <a:prstDash val="solid"/>
                      <a:round/>
                      <a:headEnd type="none" w="med" len="med"/>
                      <a:tailEnd type="none" w="med" len="med"/>
                    </a:lnT>
                    <a:lnB w="6350" cap="flat" cmpd="sng" algn="ctr">
                      <a:solidFill>
                        <a:srgbClr val="5A6B75"/>
                      </a:solidFill>
                      <a:prstDash val="solid"/>
                      <a:round/>
                      <a:headEnd type="none" w="med" len="med"/>
                      <a:tailEnd type="none" w="med" len="med"/>
                    </a:lnB>
                    <a:solidFill>
                      <a:srgbClr val="F7F9FA"/>
                    </a:solidFill>
                  </a:tcPr>
                </a:tc>
              </a:tr>
              <a:tr h="310896">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W6~W7</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5A6B75"/>
                      </a:solidFill>
                      <a:prstDash val="solid"/>
                      <a:round/>
                      <a:headEnd type="none" w="med" len="med"/>
                      <a:tailEnd type="none" w="med" len="med"/>
                    </a:lnL>
                    <a:lnR w="6350" cap="flat" cmpd="sng" algn="ctr">
                      <a:solidFill>
                        <a:srgbClr val="5A6B75"/>
                      </a:solidFill>
                      <a:prstDash val="solid"/>
                      <a:round/>
                      <a:headEnd type="none" w="med" len="med"/>
                      <a:tailEnd type="none" w="med" len="med"/>
                    </a:lnR>
                    <a:lnT w="6350" cap="flat" cmpd="sng" algn="ctr">
                      <a:solidFill>
                        <a:srgbClr val="5A6B75"/>
                      </a:solidFill>
                      <a:prstDash val="solid"/>
                      <a:round/>
                      <a:headEnd type="none" w="med" len="med"/>
                      <a:tailEnd type="none" w="med" len="med"/>
                    </a:lnT>
                    <a:lnB w="6350" cap="flat" cmpd="sng" algn="ctr">
                      <a:solidFill>
                        <a:srgbClr val="5A6B75"/>
                      </a:solidFill>
                      <a:prstDash val="solid"/>
                      <a:round/>
                      <a:headEnd type="none" w="med" len="med"/>
                      <a:tailEnd type="none" w="med" len="med"/>
                    </a:lnB>
                    <a:solidFill>
                      <a:srgbClr val="F7F9FA"/>
                    </a:solidFill>
                  </a:tcPr>
                </a:tc>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최종 완주, 발표 준비</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5A6B75"/>
                      </a:solidFill>
                      <a:prstDash val="solid"/>
                      <a:round/>
                      <a:headEnd type="none" w="med" len="med"/>
                      <a:tailEnd type="none" w="med" len="med"/>
                    </a:lnL>
                    <a:lnR w="6350" cap="flat" cmpd="sng" algn="ctr">
                      <a:solidFill>
                        <a:srgbClr val="5A6B75"/>
                      </a:solidFill>
                      <a:prstDash val="solid"/>
                      <a:round/>
                      <a:headEnd type="none" w="med" len="med"/>
                      <a:tailEnd type="none" w="med" len="med"/>
                    </a:lnR>
                    <a:lnT w="6350" cap="flat" cmpd="sng" algn="ctr">
                      <a:solidFill>
                        <a:srgbClr val="5A6B75"/>
                      </a:solidFill>
                      <a:prstDash val="solid"/>
                      <a:round/>
                      <a:headEnd type="none" w="med" len="med"/>
                      <a:tailEnd type="none" w="med" len="med"/>
                    </a:lnT>
                    <a:lnB w="6350" cap="flat" cmpd="sng" algn="ctr">
                      <a:solidFill>
                        <a:srgbClr val="5A6B75"/>
                      </a:solidFill>
                      <a:prstDash val="solid"/>
                      <a:round/>
                      <a:headEnd type="none" w="med" len="med"/>
                      <a:tailEnd type="none" w="med" len="med"/>
                    </a:lnB>
                    <a:solidFill>
                      <a:srgbClr val="F7F9FA"/>
                    </a:solidFill>
                  </a:tcPr>
                </a:tc>
                <a:tc>
                  <a:txBody>
                    <a:bodyPr/>
                    <a:lstStyle/>
                    <a:p>
                      <a:pPr indent="0" marL="0">
                        <a:buNone/>
                      </a:pPr>
                      <a:r>
                        <a:rPr lang="en-US" sz="1100" dirty="0">
                          <a:solidFill>
                            <a:srgbClr val="3C4A52"/>
                          </a:solidFill>
                          <a:latin typeface="맑은 고딕" pitchFamily="34" charset="0"/>
                          <a:ea typeface="맑은 고딕" pitchFamily="34" charset="-122"/>
                          <a:cs typeface="맑은 고딕" pitchFamily="34" charset="-120"/>
                        </a:rPr>
                        <a:t>8실험 verdict 파일, 리허설 3회</a:t>
                      </a:r>
                      <a:endParaRPr lang="en-US" sz="1100" dirty="0">
                        <a:latin typeface="맑은 고딕" charset="0"/>
                        <a:ea typeface="맑은 고딕" charset="0"/>
                        <a:cs typeface="맑은 고딕" charset="0"/>
                      </a:endParaRPr>
                    </a:p>
                  </a:txBody>
                  <a:tcPr marL="76200" marR="76200" marT="38100" marB="38100" anchor="ctr">
                    <a:lnL w="6350" cap="flat" cmpd="sng" algn="ctr">
                      <a:solidFill>
                        <a:srgbClr val="5A6B75"/>
                      </a:solidFill>
                      <a:prstDash val="solid"/>
                      <a:round/>
                      <a:headEnd type="none" w="med" len="med"/>
                      <a:tailEnd type="none" w="med" len="med"/>
                    </a:lnL>
                    <a:lnR w="6350" cap="flat" cmpd="sng" algn="ctr">
                      <a:solidFill>
                        <a:srgbClr val="5A6B75"/>
                      </a:solidFill>
                      <a:prstDash val="solid"/>
                      <a:round/>
                      <a:headEnd type="none" w="med" len="med"/>
                      <a:tailEnd type="none" w="med" len="med"/>
                    </a:lnR>
                    <a:lnT w="6350" cap="flat" cmpd="sng" algn="ctr">
                      <a:solidFill>
                        <a:srgbClr val="5A6B75"/>
                      </a:solidFill>
                      <a:prstDash val="solid"/>
                      <a:round/>
                      <a:headEnd type="none" w="med" len="med"/>
                      <a:tailEnd type="none" w="med" len="med"/>
                    </a:lnT>
                    <a:lnB w="6350" cap="flat" cmpd="sng" algn="ctr">
                      <a:solidFill>
                        <a:srgbClr val="5A6B75"/>
                      </a:solidFill>
                      <a:prstDash val="solid"/>
                      <a:round/>
                      <a:headEnd type="none" w="med" len="med"/>
                      <a:tailEnd type="none" w="med" len="med"/>
                    </a:lnB>
                    <a:solidFill>
                      <a:srgbClr val="F7F9FA"/>
                    </a:solidFill>
                  </a:tcPr>
                </a:tc>
              </a:tr>
            </a:tbl>
          </a:graphicData>
        </a:graphic>
      </p:graphicFrame>
      <p:sp>
        <p:nvSpPr>
          <p:cNvPr id="19" name="Shape 16"/>
          <p:cNvSpPr/>
          <p:nvPr/>
        </p:nvSpPr>
        <p:spPr>
          <a:xfrm>
            <a:off x="566928" y="4617720"/>
            <a:ext cx="2535860" cy="786384"/>
          </a:xfrm>
          <a:prstGeom prst="roundRect">
            <a:avLst>
              <a:gd name="adj" fmla="val 5814"/>
            </a:avLst>
          </a:prstGeom>
          <a:solidFill>
            <a:srgbClr val="2C3A43"/>
          </a:solidFill>
          <a:ln w="9525">
            <a:solidFill>
              <a:srgbClr val="3D4E58"/>
            </a:solidFill>
            <a:prstDash val="solid"/>
          </a:ln>
        </p:spPr>
      </p:sp>
      <p:sp>
        <p:nvSpPr>
          <p:cNvPr id="20" name="Text 17"/>
          <p:cNvSpPr/>
          <p:nvPr/>
        </p:nvSpPr>
        <p:spPr>
          <a:xfrm>
            <a:off x="566928" y="4690872"/>
            <a:ext cx="253586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303h</a:t>
            </a:r>
            <a:endParaRPr lang="en-US" sz="1800" dirty="0"/>
          </a:p>
        </p:txBody>
      </p:sp>
      <p:sp>
        <p:nvSpPr>
          <p:cNvPr id="21" name="Text 18"/>
          <p:cNvSpPr/>
          <p:nvPr/>
        </p:nvSpPr>
        <p:spPr>
          <a:xfrm>
            <a:off x="566928" y="5056632"/>
            <a:ext cx="2535860" cy="256032"/>
          </a:xfrm>
          <a:prstGeom prst="rect">
            <a:avLst/>
          </a:prstGeom>
          <a:noFill/>
          <a:ln/>
        </p:spPr>
        <p:txBody>
          <a:bodyPr wrap="square" lIns="0" tIns="0" rIns="0" bIns="0" rtlCol="0" anchor="ctr"/>
          <a:lstStyle/>
          <a:p>
            <a:pPr algn="ctr" indent="0" marL="0">
              <a:buNone/>
            </a:pPr>
            <a:r>
              <a:rPr lang="en-US" sz="1050" dirty="0">
                <a:solidFill>
                  <a:srgbClr val="8AA0AC"/>
                </a:solidFill>
                <a:latin typeface="맑은 고딕" pitchFamily="34" charset="0"/>
                <a:ea typeface="맑은 고딕" pitchFamily="34" charset="-122"/>
                <a:cs typeface="맑은 고딕" pitchFamily="34" charset="-120"/>
              </a:rPr>
              <a:t>순 가용</a:t>
            </a:r>
            <a:endParaRPr lang="en-US" sz="1050" dirty="0"/>
          </a:p>
        </p:txBody>
      </p:sp>
      <p:sp>
        <p:nvSpPr>
          <p:cNvPr id="22" name="Shape 19"/>
          <p:cNvSpPr/>
          <p:nvPr/>
        </p:nvSpPr>
        <p:spPr>
          <a:xfrm>
            <a:off x="3331388" y="4617720"/>
            <a:ext cx="2535860" cy="786384"/>
          </a:xfrm>
          <a:prstGeom prst="roundRect">
            <a:avLst>
              <a:gd name="adj" fmla="val 5814"/>
            </a:avLst>
          </a:prstGeom>
          <a:solidFill>
            <a:srgbClr val="2C3A43"/>
          </a:solidFill>
          <a:ln w="9525">
            <a:solidFill>
              <a:srgbClr val="3D4E58"/>
            </a:solidFill>
            <a:prstDash val="solid"/>
          </a:ln>
        </p:spPr>
      </p:sp>
      <p:sp>
        <p:nvSpPr>
          <p:cNvPr id="23" name="Text 20"/>
          <p:cNvSpPr/>
          <p:nvPr/>
        </p:nvSpPr>
        <p:spPr>
          <a:xfrm>
            <a:off x="3331388" y="4690872"/>
            <a:ext cx="253586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186h</a:t>
            </a:r>
            <a:endParaRPr lang="en-US" sz="1800" dirty="0"/>
          </a:p>
        </p:txBody>
      </p:sp>
      <p:sp>
        <p:nvSpPr>
          <p:cNvPr id="24" name="Text 21"/>
          <p:cNvSpPr/>
          <p:nvPr/>
        </p:nvSpPr>
        <p:spPr>
          <a:xfrm>
            <a:off x="3331388" y="5056632"/>
            <a:ext cx="2535860" cy="256032"/>
          </a:xfrm>
          <a:prstGeom prst="rect">
            <a:avLst/>
          </a:prstGeom>
          <a:noFill/>
          <a:ln/>
        </p:spPr>
        <p:txBody>
          <a:bodyPr wrap="square" lIns="0" tIns="0" rIns="0" bIns="0" rtlCol="0" anchor="ctr"/>
          <a:lstStyle/>
          <a:p>
            <a:pPr algn="ctr" indent="0" marL="0">
              <a:buNone/>
            </a:pPr>
            <a:r>
              <a:rPr lang="en-US" sz="1050" dirty="0">
                <a:solidFill>
                  <a:srgbClr val="8AA0AC"/>
                </a:solidFill>
                <a:latin typeface="맑은 고딕" pitchFamily="34" charset="0"/>
                <a:ea typeface="맑은 고딕" pitchFamily="34" charset="-122"/>
                <a:cs typeface="맑은 고딕" pitchFamily="34" charset="-120"/>
              </a:rPr>
              <a:t>계획</a:t>
            </a:r>
            <a:endParaRPr lang="en-US" sz="1050" dirty="0"/>
          </a:p>
        </p:txBody>
      </p:sp>
      <p:sp>
        <p:nvSpPr>
          <p:cNvPr id="25" name="Shape 22"/>
          <p:cNvSpPr/>
          <p:nvPr/>
        </p:nvSpPr>
        <p:spPr>
          <a:xfrm>
            <a:off x="6095848" y="4617720"/>
            <a:ext cx="2535860" cy="786384"/>
          </a:xfrm>
          <a:prstGeom prst="roundRect">
            <a:avLst>
              <a:gd name="adj" fmla="val 5814"/>
            </a:avLst>
          </a:prstGeom>
          <a:solidFill>
            <a:srgbClr val="2C3A43"/>
          </a:solidFill>
          <a:ln w="9525">
            <a:solidFill>
              <a:srgbClr val="3D4E58"/>
            </a:solidFill>
            <a:prstDash val="solid"/>
          </a:ln>
        </p:spPr>
      </p:sp>
      <p:sp>
        <p:nvSpPr>
          <p:cNvPr id="26" name="Text 23"/>
          <p:cNvSpPr/>
          <p:nvPr/>
        </p:nvSpPr>
        <p:spPr>
          <a:xfrm>
            <a:off x="6095848" y="4690872"/>
            <a:ext cx="253586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60h</a:t>
            </a:r>
            <a:endParaRPr lang="en-US" sz="1800" dirty="0"/>
          </a:p>
        </p:txBody>
      </p:sp>
      <p:sp>
        <p:nvSpPr>
          <p:cNvPr id="27" name="Text 24"/>
          <p:cNvSpPr/>
          <p:nvPr/>
        </p:nvSpPr>
        <p:spPr>
          <a:xfrm>
            <a:off x="6095848" y="5056632"/>
            <a:ext cx="2535860" cy="256032"/>
          </a:xfrm>
          <a:prstGeom prst="rect">
            <a:avLst/>
          </a:prstGeom>
          <a:noFill/>
          <a:ln/>
        </p:spPr>
        <p:txBody>
          <a:bodyPr wrap="square" lIns="0" tIns="0" rIns="0" bIns="0" rtlCol="0" anchor="ctr"/>
          <a:lstStyle/>
          <a:p>
            <a:pPr algn="ctr" indent="0" marL="0">
              <a:buNone/>
            </a:pPr>
            <a:r>
              <a:rPr lang="en-US" sz="1050" dirty="0">
                <a:solidFill>
                  <a:srgbClr val="8AA0AC"/>
                </a:solidFill>
                <a:latin typeface="맑은 고딕" pitchFamily="34" charset="0"/>
                <a:ea typeface="맑은 고딕" pitchFamily="34" charset="-122"/>
                <a:cs typeface="맑은 고딕" pitchFamily="34" charset="-120"/>
              </a:rPr>
              <a:t>예비</a:t>
            </a:r>
            <a:endParaRPr lang="en-US" sz="1050" dirty="0"/>
          </a:p>
        </p:txBody>
      </p:sp>
      <p:sp>
        <p:nvSpPr>
          <p:cNvPr id="28" name="Shape 25"/>
          <p:cNvSpPr/>
          <p:nvPr/>
        </p:nvSpPr>
        <p:spPr>
          <a:xfrm>
            <a:off x="8860307" y="4617720"/>
            <a:ext cx="2535860" cy="786384"/>
          </a:xfrm>
          <a:prstGeom prst="roundRect">
            <a:avLst>
              <a:gd name="adj" fmla="val 5814"/>
            </a:avLst>
          </a:prstGeom>
          <a:solidFill>
            <a:srgbClr val="2C3A43"/>
          </a:solidFill>
          <a:ln w="9525">
            <a:solidFill>
              <a:srgbClr val="3D4E58"/>
            </a:solidFill>
            <a:prstDash val="solid"/>
          </a:ln>
        </p:spPr>
      </p:sp>
      <p:sp>
        <p:nvSpPr>
          <p:cNvPr id="29" name="Text 26"/>
          <p:cNvSpPr/>
          <p:nvPr/>
        </p:nvSpPr>
        <p:spPr>
          <a:xfrm>
            <a:off x="8860307" y="4690872"/>
            <a:ext cx="253586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7항목</a:t>
            </a:r>
            <a:endParaRPr lang="en-US" sz="1800" dirty="0"/>
          </a:p>
        </p:txBody>
      </p:sp>
      <p:sp>
        <p:nvSpPr>
          <p:cNvPr id="30" name="Text 27"/>
          <p:cNvSpPr/>
          <p:nvPr/>
        </p:nvSpPr>
        <p:spPr>
          <a:xfrm>
            <a:off x="8860307" y="5056632"/>
            <a:ext cx="2535860" cy="256032"/>
          </a:xfrm>
          <a:prstGeom prst="rect">
            <a:avLst/>
          </a:prstGeom>
          <a:noFill/>
          <a:ln/>
        </p:spPr>
        <p:txBody>
          <a:bodyPr wrap="square" lIns="0" tIns="0" rIns="0" bIns="0" rtlCol="0" anchor="ctr"/>
          <a:lstStyle/>
          <a:p>
            <a:pPr algn="ctr" indent="0" marL="0">
              <a:buNone/>
            </a:pPr>
            <a:r>
              <a:rPr lang="en-US" sz="1050" dirty="0">
                <a:solidFill>
                  <a:srgbClr val="8AA0AC"/>
                </a:solidFill>
                <a:latin typeface="맑은 고딕" pitchFamily="34" charset="0"/>
                <a:ea typeface="맑은 고딕" pitchFamily="34" charset="-122"/>
                <a:cs typeface="맑은 고딕" pitchFamily="34" charset="-120"/>
              </a:rPr>
              <a:t>절대 미감량</a:t>
            </a:r>
            <a:endParaRPr lang="en-US" sz="1050" dirty="0"/>
          </a:p>
        </p:txBody>
      </p:sp>
      <p:sp>
        <p:nvSpPr>
          <p:cNvPr id="31" name="Text 28"/>
          <p:cNvSpPr/>
          <p:nvPr/>
        </p:nvSpPr>
        <p:spPr>
          <a:xfrm>
            <a:off x="566928" y="5632704"/>
            <a:ext cx="11057839" cy="292608"/>
          </a:xfrm>
          <a:prstGeom prst="rect">
            <a:avLst/>
          </a:prstGeom>
          <a:noFill/>
          <a:ln/>
        </p:spPr>
        <p:txBody>
          <a:bodyPr wrap="square" lIns="0" tIns="0" rIns="0" bIns="0" rtlCol="0" anchor="ctr"/>
          <a:lstStyle/>
          <a:p>
            <a:pPr indent="0" marL="0">
              <a:buNone/>
            </a:pPr>
            <a:r>
              <a:rPr lang="en-US" sz="1150" i="1" dirty="0">
                <a:solidFill>
                  <a:srgbClr val="9FB3BE"/>
                </a:solidFill>
                <a:latin typeface="맑은 고딕" pitchFamily="34" charset="0"/>
                <a:ea typeface="맑은 고딕" pitchFamily="34" charset="-122"/>
                <a:cs typeface="맑은 고딕" pitchFamily="34" charset="-120"/>
              </a:rPr>
              <a:t>완료 기준은 전부 기계 판정이다. 육안 판정 항목은 0개다</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고가용성 가상 암호화폐 거래소 계획서</dc:title>
  <dc:subject>PptxGenJS Presentation</dc:subject>
  <dc:creator>Sanghyeok Lee</dc:creator>
  <cp:lastModifiedBy>Sanghyeok Lee</cp:lastModifiedBy>
  <cp:revision>1</cp:revision>
  <dcterms:created xsi:type="dcterms:W3CDTF">2026-09-13T06:43:21Z</dcterms:created>
  <dcterms:modified xsi:type="dcterms:W3CDTF">2026-09-13T06:43:21Z</dcterms:modified>
</cp:coreProperties>
</file>
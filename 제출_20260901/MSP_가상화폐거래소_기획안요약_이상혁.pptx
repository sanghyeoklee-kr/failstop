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8" r:id="rId2"/>
    <p:sldId id="279" r:id="rId3"/>
    <p:sldId id="280" r:id="rId4"/>
    <p:sldId id="281" r:id="rId5"/>
    <p:sldId id="282" r:id="rId6"/>
    <p:sldId id="283" r:id="rId7"/>
    <p:sldId id="284" r:id="rId8"/>
    <p:sldId id="285" r:id="rId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5" d="100"/>
          <a:sy n="25" d="100"/>
        </p:scale>
        <p:origin x="9" y="16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373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직접 개발한 거래소를 MSP가 인수해 운영하는 상황을 가정한 프로젝트. 개발이 아니라 배포 이후의 운영 체계가 검증 대상이라는 점을 첫 장에서 밝힌다.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질문 셋. 어디가 문제인가, 정말 복구됐는가, 어디까지 자동화하는가. HTTP 응답 복귀와 데이터 정상은 별개의 판정이라는 것이 이 프로젝트의 출발점.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운영 대상은 직접 개발한 시뮬레이션 거래소. 거래소를 고른 이유는 복식부기 원장으로 복구를 객관적으로 판정할 수 있기 때문. 규모 수치는 저장소 실측값.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Application은 2AZ, 쓰기는 single writer. DB 승격이 수동이라 전체 AZ 내성은 미성립. RTO 6.688초는 로컬 1회 측정이며 클라우드 수치가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핵심은 무엇을 관측하는가가 아니라 관측 결과를 어떻게 판단하는가. 하한 알람이 없어 유휴와 정지가 구분되지 않는 것이 현재의 실제 공백. 계층 프로브도 미구현이며 남은 기간 최우선 항목.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Alert 이후는 Runbook으로 고정. 자동과 사람의 경계가 이 장의 핵심. 되돌릴 수 있으면 자동, 데이터 위험이 있으면 사람. 원장 불일치는 P1이고 자동 보정하지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Chaos Harness는 프로젝트의 목적이 아니라 Runbook과 장애 대응 체계를 검증하기 위한 수단. 기술 선택은 이유와 함께 제시한다. 비용 상한은 설계 변수.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장은 실행 계획. Gap을 숨기지 않는다. Cloud 배포와 프로브가 풀리면 Runbook의 BLOCKED 단계가 함께 풀린다. 최종 평가는 복구 여부가 아니라 판별, 속도, 데이터 증명.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4749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파이널 프로젝트 1차 계획서 (제출용 요약)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889709" y="952500"/>
            <a:ext cx="1128514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2026-09-01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43000" y="1457325"/>
            <a:ext cx="16002000" cy="19050"/>
          </a:xfrm>
          <a:prstGeom prst="rect">
            <a:avLst/>
          </a:prstGeom>
          <a:solidFill>
            <a:srgbClr val="1B24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143000" y="2238375"/>
            <a:ext cx="16482060" cy="1786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684"/>
              </a:lnSpc>
              <a:buNone/>
            </a:pPr>
            <a:r>
              <a:rPr lang="en-US" sz="5600" b="1" kern="0" spc="-37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MSP 관점의 가상화폐 거래소 운영 체계 구축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1143000" y="4191000"/>
            <a:ext cx="176022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C46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장애 계층 판별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4597400"/>
            <a:ext cx="176022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C46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Runbook 기반 대응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5003800"/>
            <a:ext cx="176022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C46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복구 후 데이터 정합성 검증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3000" y="6000899"/>
            <a:ext cx="12263438" cy="1252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1667"/>
              </a:lnSpc>
              <a:buNone/>
            </a:pPr>
            <a:r>
              <a:rPr lang="en-US" dirty="0">
                <a:solidFill>
                  <a:srgbClr val="3C46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24시간 거래가 멈추지 않는 가상화폐 거래소를 직접 개발했다. MSP가 이 서비스를 인수해 배포하고 운영하는 상황을 가정했다. 목표는 모니터링에서 장애 판별, 대응, 복구 검증까지 끊기지 않는 운영 체계다.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43000" y="7386786"/>
            <a:ext cx="130968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실제 자산과 실제 거래소 API는 사용하지 않는 완전한 시뮬레이션 환경이다.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8448675"/>
            <a:ext cx="564257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개발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42554" y="8448675"/>
            <a:ext cx="283732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140148" y="8448675"/>
            <a:ext cx="564257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배포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739703" y="8448675"/>
            <a:ext cx="283732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137297" y="8448675"/>
            <a:ext cx="564257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관측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736851" y="8448675"/>
            <a:ext cx="283732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134445" y="8448675"/>
            <a:ext cx="1134926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장애 판별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20965" y="8448675"/>
            <a:ext cx="283732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18559" y="8448675"/>
            <a:ext cx="564257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대응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18113" y="8448675"/>
            <a:ext cx="283732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615708" y="8448675"/>
            <a:ext cx="564257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복구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15262" y="8448675"/>
            <a:ext cx="283732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612856" y="8448675"/>
            <a:ext cx="1391407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7714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데이터 검증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143000" y="9053513"/>
            <a:ext cx="16002000" cy="9525"/>
          </a:xfrm>
          <a:prstGeom prst="rect">
            <a:avLst/>
          </a:prstGeom>
          <a:solidFill>
            <a:srgbClr val="D9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143000" y="9301163"/>
            <a:ext cx="1027525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수행 형태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247900" y="9291638"/>
            <a:ext cx="1375377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1인 프로젝트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042842" y="9334500"/>
            <a:ext cx="743793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작성자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889500" y="9291638"/>
            <a:ext cx="897682" cy="389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이상혁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209035" y="9301163"/>
            <a:ext cx="1489190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프로젝트 기간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734300" y="9291638"/>
            <a:ext cx="2426946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2026-05-22 ~ 2026-10-16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1279535" y="9301163"/>
            <a:ext cx="1027525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최종 발표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407900" y="9291638"/>
            <a:ext cx="1128514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2026-10-16</a:t>
            </a:r>
            <a:endParaRPr lang="en-US" dirty="0"/>
          </a:p>
        </p:txBody>
      </p:sp>
      <p:sp>
        <p:nvSpPr>
          <p:cNvPr id="60" name="Text Page"/>
          <p:cNvSpPr txBox="1"/>
          <p:nvPr/>
        </p:nvSpPr>
        <p:spPr>
          <a:xfrm>
            <a:off x="16408400" y="9664700"/>
            <a:ext cx="812800" cy="317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3429172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00100"/>
            <a:ext cx="17602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 문제 정의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43000" y="1633538"/>
            <a:ext cx="16482060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836"/>
              </a:lnSpc>
              <a:buNone/>
            </a:pPr>
            <a:r>
              <a:rPr lang="en-US" sz="4200" b="1" kern="0" spc="-37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서비스가 다시 응답한다고 해서 데이터까지 정상이라는 뜻은 아니다.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143000" y="3797498"/>
            <a:ext cx="893501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B96A1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Q1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3000" y="4235648"/>
            <a:ext cx="893501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어디가 문제인가?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4911923"/>
            <a:ext cx="8366424" cy="886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9219"/>
              </a:lnSpc>
              <a:buNone/>
            </a:pPr>
            <a:r>
              <a:rPr lang="en-US" dirty="0">
                <a:solidFill>
                  <a:srgbClr val="3C46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네트워크, 애플리케이션, DB, 거래 처리 중 어느 계층의 문제인지 관측 데이터로 판단한다.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43000" y="7467600"/>
            <a:ext cx="8935016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414"/>
              </a:lnSpc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"서비스가 안 된다"는 현상을 실제 장애 계층으로 구체화하는 것이 운영의 첫 판단이다.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951541" y="3797498"/>
            <a:ext cx="9525" cy="5918002"/>
          </a:xfrm>
          <a:prstGeom prst="rect">
            <a:avLst/>
          </a:prstGeom>
          <a:solidFill>
            <a:srgbClr val="D9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646866" y="3797498"/>
            <a:ext cx="714794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B96A1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Q2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646866" y="4216598"/>
            <a:ext cx="714794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정말 복구됐는가?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646866" y="4721423"/>
            <a:ext cx="6693078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33"/>
              </a:lnSpc>
              <a:buNone/>
            </a:pPr>
            <a:r>
              <a:rPr lang="en-US" dirty="0">
                <a:solidFill>
                  <a:srgbClr val="3C46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HTTP 응답만 보지 않는다. Transaction과 Ledger까지 정상인지 확인한다.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10646866" y="5864423"/>
            <a:ext cx="6498134" cy="9525"/>
          </a:xfrm>
          <a:prstGeom prst="rect">
            <a:avLst/>
          </a:prstGeom>
          <a:solidFill>
            <a:srgbClr val="D9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646866" y="6254948"/>
            <a:ext cx="714794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B96A1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Q3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646866" y="6674048"/>
            <a:ext cx="714794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어디까지 자동화할 것인가?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646866" y="7178873"/>
            <a:ext cx="6693078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33"/>
              </a:lnSpc>
              <a:buNone/>
            </a:pPr>
            <a:r>
              <a:rPr lang="en-US" dirty="0">
                <a:solidFill>
                  <a:srgbClr val="3C46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되돌릴 수 있는 조치는 자동화한다. 데이터 손실 가능성이 있는 조치는 운영자가 판단한다.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6408747" y="9667875"/>
            <a:ext cx="714939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 / 08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64375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00100"/>
            <a:ext cx="17602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03 대상 서비스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43000" y="1557338"/>
            <a:ext cx="176022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운영 대상: 24시간 거래가 발생하는 시뮬레이션 거래소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43000" y="2743200"/>
            <a:ext cx="2153543" cy="1781175"/>
          </a:xfrm>
          <a:prstGeom prst="rect">
            <a:avLst/>
          </a:prstGeom>
          <a:ln w="9525">
            <a:solidFill>
              <a:srgbClr val="1B24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304925" y="3019425"/>
            <a:ext cx="19304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Bot Fleet / 사용자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304925" y="3695700"/>
            <a:ext cx="1829693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24시간 </a:t>
            </a:r>
          </a:p>
          <a:p>
            <a:pPr marL="0" indent="0" algn="ctr">
              <a:buNone/>
            </a:pPr>
            <a:r>
              <a:rPr lang="en-US" sz="1800" dirty="0" err="1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기저</a:t>
            </a: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en-US" sz="1800" dirty="0" err="1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트래픽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410843" y="3464719"/>
            <a:ext cx="306174" cy="389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786113" y="3031331"/>
            <a:ext cx="2153617" cy="1204913"/>
          </a:xfrm>
          <a:prstGeom prst="rect">
            <a:avLst/>
          </a:prstGeom>
          <a:ln w="9525">
            <a:solidFill>
              <a:srgbClr val="C7CD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371602" y="3307556"/>
            <a:ext cx="982640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주문 API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233743" y="3683794"/>
            <a:ext cx="1258357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멱등키 필수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54030" y="3464719"/>
            <a:ext cx="306174" cy="389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29301" y="2881313"/>
            <a:ext cx="2153543" cy="1504950"/>
          </a:xfrm>
          <a:prstGeom prst="rect">
            <a:avLst/>
          </a:prstGeom>
          <a:ln w="9525">
            <a:solidFill>
              <a:srgbClr val="C7CD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591226" y="3157538"/>
            <a:ext cx="1829693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Order / Matching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98982" y="3833812"/>
            <a:ext cx="1214179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single writer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97144" y="3464719"/>
            <a:ext cx="306174" cy="389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072414" y="3031331"/>
            <a:ext cx="2153543" cy="1204913"/>
          </a:xfrm>
          <a:prstGeom prst="rect">
            <a:avLst/>
          </a:prstGeom>
          <a:ln w="9525">
            <a:solidFill>
              <a:srgbClr val="C7CD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512793" y="3307556"/>
            <a:ext cx="1272784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Transaction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341656" y="3683794"/>
            <a:ext cx="1615058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명령 저널, fsync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340257" y="3464719"/>
            <a:ext cx="306174" cy="389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1715527" y="2609850"/>
            <a:ext cx="2786360" cy="2047875"/>
          </a:xfrm>
          <a:prstGeom prst="rect">
            <a:avLst/>
          </a:prstGeom>
          <a:ln w="19050">
            <a:solidFill>
              <a:srgbClr val="1771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1886977" y="2971800"/>
            <a:ext cx="244346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714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Double-entry Ledger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886977" y="3743325"/>
            <a:ext cx="244346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3C46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복식부기 </a:t>
            </a:r>
            <a:r>
              <a:rPr lang="en-US" sz="1800" dirty="0" err="1">
                <a:solidFill>
                  <a:srgbClr val="3C46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원장</a:t>
            </a:r>
            <a:r>
              <a:rPr lang="en-US" sz="1800" dirty="0">
                <a:solidFill>
                  <a:srgbClr val="3C46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800" dirty="0" err="1">
                <a:solidFill>
                  <a:srgbClr val="3C46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자산별</a:t>
            </a:r>
            <a:r>
              <a:rPr lang="en-US" sz="1800" dirty="0">
                <a:solidFill>
                  <a:srgbClr val="3C46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합계 0 불변식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16187" y="3464719"/>
            <a:ext cx="306174" cy="389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4991457" y="3031331"/>
            <a:ext cx="2153543" cy="1204913"/>
          </a:xfrm>
          <a:prstGeom prst="rect">
            <a:avLst/>
          </a:prstGeom>
          <a:ln w="9525">
            <a:solidFill>
              <a:srgbClr val="C7CD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5160127" y="3307556"/>
            <a:ext cx="1816202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잔고 / 거래내역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5066351" y="3683794"/>
            <a:ext cx="2003755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재계산 가능한 파생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43000" y="5286375"/>
            <a:ext cx="14323695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7910"/>
              </a:lnSpc>
              <a:buNone/>
            </a:pPr>
            <a:r>
              <a:rPr lang="en-US" sz="2200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거래소를 운영 대상으로 고른 이유는 하나다. 장애 후 복식부기 원장으로 데이터 정합성을 객관적으로 판정할 수 있기 때문이다. 모든 거래가 끝난 뒤 자산별 원장의 합이 0이어야 한다는 불변식이 복구의 판정 기준이 된다.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1143000" y="8343900"/>
            <a:ext cx="16002000" cy="9525"/>
          </a:xfrm>
          <a:prstGeom prst="rect">
            <a:avLst/>
          </a:prstGeom>
          <a:solidFill>
            <a:srgbClr val="D9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1143000" y="8620125"/>
            <a:ext cx="10949315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3C46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REST API </a:t>
            </a:r>
            <a:r>
              <a:rPr lang="en-US" b="1" dirty="0">
                <a:solidFill>
                  <a:srgbClr val="3C46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99개 </a:t>
            </a:r>
            <a:r>
              <a:rPr lang="en-US" dirty="0">
                <a:solidFill>
                  <a:srgbClr val="3C46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DB Table </a:t>
            </a:r>
            <a:r>
              <a:rPr lang="en-US" b="1" dirty="0">
                <a:solidFill>
                  <a:srgbClr val="3C46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50개 </a:t>
            </a:r>
            <a:r>
              <a:rPr lang="en-US" dirty="0">
                <a:solidFill>
                  <a:srgbClr val="3C46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Backend Test </a:t>
            </a:r>
            <a:r>
              <a:rPr lang="en-US" b="1" dirty="0">
                <a:solidFill>
                  <a:srgbClr val="3C46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467개 </a:t>
            </a:r>
            <a:r>
              <a:rPr lang="en-US" dirty="0">
                <a:solidFill>
                  <a:srgbClr val="3C46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Ledger invariant </a:t>
            </a:r>
            <a:r>
              <a:rPr lang="en-US" b="1" dirty="0">
                <a:solidFill>
                  <a:srgbClr val="3C46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26종 </a:t>
            </a:r>
            <a:r>
              <a:rPr lang="en-US" dirty="0">
                <a:solidFill>
                  <a:srgbClr val="3C46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Bot Fleet </a:t>
            </a:r>
            <a:r>
              <a:rPr lang="en-US" b="1" dirty="0">
                <a:solidFill>
                  <a:srgbClr val="3C46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24시간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2446000" y="8629650"/>
            <a:ext cx="469900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B237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실제 자산 없음, 입출금 없음, </a:t>
            </a:r>
          </a:p>
          <a:p>
            <a:pPr marL="0" indent="0" algn="r">
              <a:buNone/>
            </a:pPr>
            <a:r>
              <a:rPr lang="en-US" sz="1800" dirty="0" err="1">
                <a:solidFill>
                  <a:srgbClr val="B237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외부</a:t>
            </a:r>
            <a:r>
              <a:rPr lang="en-US" sz="1800" dirty="0">
                <a:solidFill>
                  <a:srgbClr val="B237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거래소 API 의존 없음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6401827" y="9667875"/>
            <a:ext cx="714939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03 / 08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0875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2221762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 서비스 아키텍처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708779" y="685800"/>
            <a:ext cx="72893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Application 2AZ, Single Writer, PostgreSQL Streaming Replication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214438"/>
            <a:ext cx="12153900" cy="80676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525500" y="2528888"/>
            <a:ext cx="3810000" cy="9525"/>
          </a:xfrm>
          <a:prstGeom prst="rect">
            <a:avLst/>
          </a:prstGeom>
          <a:solidFill>
            <a:srgbClr val="D9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13525500" y="1252538"/>
            <a:ext cx="4191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Application HA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525500" y="1566863"/>
            <a:ext cx="41910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 AZ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3525500" y="2062163"/>
            <a:ext cx="4191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설계 완료, 클라우드 배포 전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3525500" y="4005262"/>
            <a:ext cx="3810000" cy="9525"/>
          </a:xfrm>
          <a:prstGeom prst="rect">
            <a:avLst/>
          </a:prstGeom>
          <a:solidFill>
            <a:srgbClr val="D9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13525500" y="2728913"/>
            <a:ext cx="4191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전체 AZ 장애 내성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3525500" y="3043238"/>
            <a:ext cx="41910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B237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미성립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13525500" y="3538538"/>
            <a:ext cx="4191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DB 승격 수동, 소요 미측정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3525500" y="5481638"/>
            <a:ext cx="3810000" cy="9525"/>
          </a:xfrm>
          <a:prstGeom prst="rect">
            <a:avLst/>
          </a:prstGeom>
          <a:solidFill>
            <a:srgbClr val="D9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13525500" y="4205288"/>
            <a:ext cx="4191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Failover RTO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3525500" y="4519613"/>
            <a:ext cx="41910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약 6.7초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13525500" y="5014913"/>
            <a:ext cx="4191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B96A1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로컬 1회 측정값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3525500" y="5681663"/>
            <a:ext cx="4191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원장 불변식 위반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3525500" y="5995988"/>
            <a:ext cx="41910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7714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0건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13525500" y="6491288"/>
            <a:ext cx="4191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불변식 26종, 로컬 검증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52500" y="9491663"/>
            <a:ext cx="180213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Application은 2AZ로 분산했다. 다만 DB에는 아직 단일 장애점이 남아 있다.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6590764" y="9686925"/>
            <a:ext cx="714939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 / 08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24571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00100"/>
            <a:ext cx="2792431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05 모니터링과 장애 판별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3811771" y="819150"/>
            <a:ext cx="366655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무엇을 보는가보다 어떻게 판단하는가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595438"/>
            <a:ext cx="808863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거래량 증가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1990725"/>
            <a:ext cx="808863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수요 증가와 포화를 구분한다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2533650"/>
            <a:ext cx="808863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TPS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2900363"/>
            <a:ext cx="808863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3243263"/>
            <a:ext cx="808863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Latency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3609975"/>
            <a:ext cx="808863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3952875"/>
            <a:ext cx="808863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Error Rate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4319588"/>
            <a:ext cx="808863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4662488"/>
            <a:ext cx="808863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CPU / Memory / DB Connection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143000" y="5384800"/>
            <a:ext cx="7353300" cy="9525"/>
          </a:xfrm>
          <a:prstGeom prst="rect">
            <a:avLst/>
          </a:prstGeom>
          <a:solidFill>
            <a:srgbClr val="D9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143000" y="5740400"/>
            <a:ext cx="808863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7714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정상 수요 </a:t>
            </a:r>
            <a:r>
              <a:rPr lang="en-US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Latency와 Error Rate 안정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43000" y="6375400"/>
            <a:ext cx="808863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B96A1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처리 한계 접근 </a:t>
            </a:r>
            <a:r>
              <a:rPr lang="en-US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Latency 상승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43000" y="7010400"/>
            <a:ext cx="808863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B237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용량 초과 </a:t>
            </a:r>
            <a:r>
              <a:rPr lang="en-US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Error Rate 상승, DB Connection 포화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9144000" y="1595438"/>
            <a:ext cx="9525" cy="6943725"/>
          </a:xfrm>
          <a:prstGeom prst="rect">
            <a:avLst/>
          </a:prstGeom>
          <a:solidFill>
            <a:srgbClr val="D9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801225" y="1595438"/>
            <a:ext cx="807815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거래량 감소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801225" y="1990725"/>
            <a:ext cx="80781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유휴와 정지를 구분한다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801225" y="2533650"/>
            <a:ext cx="807815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TPS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801225" y="2900363"/>
            <a:ext cx="80781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801225" y="3243263"/>
            <a:ext cx="807815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Request Arrival </a:t>
            </a: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요청 자체가 줄었는가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801225" y="3609975"/>
            <a:ext cx="80781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801225" y="3952875"/>
            <a:ext cx="807815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Bot </a:t>
            </a: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봇이 멈췄는가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801225" y="4319588"/>
            <a:ext cx="80781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801225" y="4662488"/>
            <a:ext cx="807815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Network </a:t>
            </a: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L4 연결이 성립하는가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9801225" y="5029200"/>
            <a:ext cx="80781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↓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801225" y="5372100"/>
            <a:ext cx="807815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DB </a:t>
            </a: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Connection과 Query Latency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9801225" y="5738813"/>
            <a:ext cx="80781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↓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801225" y="6081713"/>
            <a:ext cx="807815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Leader </a:t>
            </a: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Lease만 갱신되고 처리는 멈췄는가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9801225" y="6610350"/>
            <a:ext cx="7564088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76"/>
              </a:lnSpc>
              <a:buNone/>
            </a:pPr>
            <a:r>
              <a:rPr lang="en-US" sz="1800" dirty="0">
                <a:solidFill>
                  <a:srgbClr val="3C46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배선된 알람 11종이 전부 상한형이다. Lease만 갱신되면서 체결이 0이던 좀비 리더를 30분 넘게 놓쳤다. 그 사고가 하한 알람을 넣는 이유다.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143000" y="8901113"/>
            <a:ext cx="16002000" cy="9525"/>
          </a:xfrm>
          <a:prstGeom prst="rect">
            <a:avLst/>
          </a:prstGeom>
          <a:solidFill>
            <a:srgbClr val="D9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1143000" y="9201150"/>
            <a:ext cx="1889813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Network 계층 판별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146152" y="9158288"/>
            <a:ext cx="666849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3649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ICMP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3934867" y="9191625"/>
            <a:ext cx="259686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323755" y="9158288"/>
            <a:ext cx="512961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3649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TCP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958135" y="9191625"/>
            <a:ext cx="259686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347022" y="9158288"/>
            <a:ext cx="666849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3649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HTTP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135737" y="9191625"/>
            <a:ext cx="259686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524625" y="9158288"/>
            <a:ext cx="359073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3649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DB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7138095" y="9201150"/>
            <a:ext cx="420896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C46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전이가 갈리는 지점이 장애 계층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1605468" y="9201150"/>
            <a:ext cx="6093485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현재: Probe·하한 Alert 미구현, 클라우드 검증 전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6406515" y="9667875"/>
            <a:ext cx="714939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05 / 08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055423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00100"/>
            <a:ext cx="178117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06 장애 대응 절차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47750" y="1557338"/>
            <a:ext cx="178117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Alert 이후의 대응은 Runbook으로 고정한다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17371" y="2528888"/>
            <a:ext cx="1237518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Alert 감지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43037" y="2947988"/>
            <a:ext cx="586186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714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AUTO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00710" y="2547938"/>
            <a:ext cx="307777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056384" y="2528888"/>
            <a:ext cx="1487587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Severity 결정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174461" y="2947988"/>
            <a:ext cx="1251432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OPERATOR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64794" y="2547938"/>
            <a:ext cx="283732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193592" y="2528888"/>
            <a:ext cx="1141338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계층 판별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235527" y="2947988"/>
            <a:ext cx="1057469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OPERATOR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8879" y="2547938"/>
            <a:ext cx="283732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057112" y="2528888"/>
            <a:ext cx="1578957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Runbook 조치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901830" y="2947988"/>
            <a:ext cx="1889522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B96A1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AUTO + OPERATOR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829452" y="2547938"/>
            <a:ext cx="283732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066125" y="2528888"/>
            <a:ext cx="1962076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서비스 복구 확인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754070" y="2947988"/>
            <a:ext cx="586186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714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AUTO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030024" y="2547938"/>
            <a:ext cx="283732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404851" y="2528888"/>
            <a:ext cx="1843453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Transaction 검증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033485" y="2947988"/>
            <a:ext cx="586186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714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AUTO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388280" y="2547938"/>
            <a:ext cx="283732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816892" y="2528888"/>
            <a:ext cx="1341713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714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Ledger 검증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194655" y="2947988"/>
            <a:ext cx="586186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714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AUTO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352365" y="2547938"/>
            <a:ext cx="283732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5705634" y="2528888"/>
            <a:ext cx="1492396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Incident 종료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5923098" y="2947988"/>
            <a:ext cx="1057469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OPERATOR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47750" y="4186238"/>
            <a:ext cx="16192500" cy="9525"/>
          </a:xfrm>
          <a:prstGeom prst="rect">
            <a:avLst/>
          </a:prstGeom>
          <a:solidFill>
            <a:srgbClr val="D9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1047750" y="4610100"/>
            <a:ext cx="1172432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자동과 수동의 경계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47750" y="5334000"/>
            <a:ext cx="11724323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937"/>
              </a:lnSpc>
              <a:buNone/>
            </a:pPr>
            <a:r>
              <a:rPr lang="en-US" sz="2000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반복 가능하고 되돌릴 수 있는 조치는 자동화한다. 봇 재기동과 리더 자동 승격이 여기에 속한다.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047750" y="6045200"/>
            <a:ext cx="11724323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937"/>
              </a:lnSpc>
              <a:buNone/>
            </a:pPr>
            <a:r>
              <a:rPr lang="en-US" sz="2000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DB 승격, 롤백 등 데이터 손실 가능성이 있는 조치는 운영자가 판단한다.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047750" y="6756400"/>
            <a:ext cx="10978229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937"/>
              </a:lnSpc>
              <a:buNone/>
            </a:pPr>
            <a:r>
              <a:rPr lang="en-US" sz="2000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Ledger invariant 위반은 자동 수정하지 않고 </a:t>
            </a:r>
            <a:r>
              <a:rPr lang="en-US" sz="2000" b="1" dirty="0">
                <a:solidFill>
                  <a:srgbClr val="B237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P1</a:t>
            </a:r>
            <a:r>
              <a:rPr lang="en-US" sz="2000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으로 분류한다. 섣부른 보정은 원인 분석의 근거와 원래 상태를 함께 지운다.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12372975" y="4614863"/>
            <a:ext cx="9525" cy="3810000"/>
          </a:xfrm>
          <a:prstGeom prst="rect">
            <a:avLst/>
          </a:prstGeom>
          <a:solidFill>
            <a:srgbClr val="D9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13049250" y="4610100"/>
            <a:ext cx="46101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로컬 실측 · 리더 kill 1회차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3049250" y="5334000"/>
            <a:ext cx="1913344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3C46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Leader Failover RTO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6229037" y="5295900"/>
            <a:ext cx="1040349" cy="389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약 6.7초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3049250" y="6045200"/>
            <a:ext cx="1027525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3C46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수동 개입</a:t>
            </a: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6819141" y="6007100"/>
            <a:ext cx="476092" cy="389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0회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3049250" y="6756400"/>
            <a:ext cx="1772921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3C46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원장 불변식 위반</a:t>
            </a: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6819141" y="6718300"/>
            <a:ext cx="476092" cy="389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7714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0건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13049250" y="7366000"/>
            <a:ext cx="431673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복구 종료 조건: 서비스 응답 복귀가 아니라 거래와 원장 검증까지 완료.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6497970" y="9667875"/>
            <a:ext cx="714939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06 / 08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45721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00100"/>
            <a:ext cx="17602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07 검증 및 구현 계획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43000" y="1557338"/>
            <a:ext cx="8830518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105"/>
              </a:lnSpc>
              <a:buNone/>
            </a:pPr>
            <a:r>
              <a:rPr lang="en-US" sz="2400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Chaos Harness는 목적이 아니라 운영 체계를 검증하는 수단이다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43000" y="2707928"/>
            <a:ext cx="8830518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33"/>
              </a:lnSpc>
              <a:buNone/>
            </a:pPr>
            <a:r>
              <a:rPr lang="en-US" dirty="0">
                <a:solidFill>
                  <a:srgbClr val="3C46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E1부터 E10까지의 실험으로 실제 장애를 재현하고, Alert 발화부터 Ledger 검증까지의 전 과정이 Runbook대로 동작하는지 확인한다.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3000" y="3889028"/>
            <a:ext cx="442191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대표 장애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4298603"/>
            <a:ext cx="442191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Leader Kill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4684365"/>
            <a:ext cx="442191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Network Partition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5070128"/>
            <a:ext cx="442191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DB Connection 장애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5455890"/>
            <a:ext cx="442191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Latency / Packet Loss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" y="5841653"/>
            <a:ext cx="442191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Application Freeze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96322" y="3889028"/>
            <a:ext cx="442199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검증 지표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696322" y="4298603"/>
            <a:ext cx="442199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MTTD / MTTR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696322" y="4684365"/>
            <a:ext cx="442199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RTO / RPO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696322" y="5070128"/>
            <a:ext cx="442199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epoch, split-brain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696322" y="5455890"/>
            <a:ext cx="442199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Ledger invariant 26종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43000" y="9045029"/>
            <a:ext cx="8830518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76"/>
              </a:lnSpc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로컬 라이브 검증은 6건을 통과했다. 복구 실측은 로컬 카오스 스택이 소유하고, 클라우드는 서비스가 상시로 서는 것을 증명한다.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364019" y="1557338"/>
            <a:ext cx="9525" cy="8196262"/>
          </a:xfrm>
          <a:prstGeom prst="rect">
            <a:avLst/>
          </a:prstGeom>
          <a:solidFill>
            <a:srgbClr val="D9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1021244" y="1557338"/>
            <a:ext cx="67361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기술 스택과 선정 이유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021244" y="2443163"/>
            <a:ext cx="6123756" cy="9525"/>
          </a:xfrm>
          <a:prstGeom prst="rect">
            <a:avLst/>
          </a:prstGeom>
          <a:solidFill>
            <a:srgbClr val="EEF1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1021244" y="2062163"/>
            <a:ext cx="1774781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Java / Spring Boot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5602911" y="2071688"/>
            <a:ext cx="1542089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거래 처리 분리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021244" y="2928938"/>
            <a:ext cx="6123756" cy="9525"/>
          </a:xfrm>
          <a:prstGeom prst="rect">
            <a:avLst/>
          </a:prstGeom>
          <a:solidFill>
            <a:srgbClr val="EEF1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1021244" y="2547938"/>
            <a:ext cx="1413849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PostgreSQL 17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4471319" y="2557463"/>
            <a:ext cx="2673681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Transaction, fencing, Ledger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1021244" y="3414713"/>
            <a:ext cx="6123756" cy="9525"/>
          </a:xfrm>
          <a:prstGeom prst="rect">
            <a:avLst/>
          </a:prstGeom>
          <a:solidFill>
            <a:srgbClr val="EEF1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1021244" y="3033713"/>
            <a:ext cx="716543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Next.js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6117475" y="3043238"/>
            <a:ext cx="1027525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정적 배포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1021244" y="3900488"/>
            <a:ext cx="6123756" cy="9525"/>
          </a:xfrm>
          <a:prstGeom prst="rect">
            <a:avLst/>
          </a:prstGeom>
          <a:solidFill>
            <a:srgbClr val="EEF1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11021244" y="3519488"/>
            <a:ext cx="500715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AWS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5030639" y="3529013"/>
            <a:ext cx="2114361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외부 배포, 비용 산정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1021244" y="4386263"/>
            <a:ext cx="6123756" cy="9525"/>
          </a:xfrm>
          <a:prstGeom prst="rect">
            <a:avLst/>
          </a:prstGeom>
          <a:solidFill>
            <a:srgbClr val="EEF1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11021244" y="4005262"/>
            <a:ext cx="719621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Docker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6117475" y="4014788"/>
            <a:ext cx="1027525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환경 재현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1021244" y="4872038"/>
            <a:ext cx="6123756" cy="9525"/>
          </a:xfrm>
          <a:prstGeom prst="rect">
            <a:avLst/>
          </a:prstGeom>
          <a:solidFill>
            <a:srgbClr val="EEF1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1021244" y="4491038"/>
            <a:ext cx="2186432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Prometheus / Grafana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4934074" y="4500563"/>
            <a:ext cx="2210926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Metric 기반 Alert 고정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1021244" y="5357813"/>
            <a:ext cx="6123756" cy="9525"/>
          </a:xfrm>
          <a:prstGeom prst="rect">
            <a:avLst/>
          </a:prstGeom>
          <a:solidFill>
            <a:srgbClr val="EEF1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11021244" y="4976813"/>
            <a:ext cx="278923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k6</a:t>
            </a: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6117475" y="4986338"/>
            <a:ext cx="1027525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부하 검증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1021244" y="5462588"/>
            <a:ext cx="1955215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자체 Chaos Harness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5088347" y="5472113"/>
            <a:ext cx="2056653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장애 판정 직접 소유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1021244" y="6091238"/>
            <a:ext cx="6123756" cy="9525"/>
          </a:xfrm>
          <a:prstGeom prst="rect">
            <a:avLst/>
          </a:prstGeom>
          <a:solidFill>
            <a:srgbClr val="D9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11021244" y="6329363"/>
            <a:ext cx="512961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보안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1021244" y="6719888"/>
            <a:ext cx="2898617" cy="1216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500"/>
              </a:lnSpc>
              <a:buNone/>
            </a:pPr>
            <a:r>
              <a:rPr lang="en-US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TLS, DB 외부 접근 차단, 관리자 접근 제어, Secret 관리, Rate Limit, Audit Log</a:t>
            </a: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4330735" y="6329363"/>
            <a:ext cx="512961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비용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4330735" y="6719888"/>
            <a:ext cx="2898693" cy="1216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500"/>
              </a:lnSpc>
              <a:buNone/>
            </a:pPr>
            <a:r>
              <a:rPr lang="en-US" sz="1875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월 상한 </a:t>
            </a:r>
            <a:r>
              <a:rPr lang="en-US" sz="1875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10만 원 </a:t>
            </a:r>
            <a:r>
              <a:rPr lang="en-US" sz="1875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달력 월 예상 </a:t>
            </a:r>
            <a:r>
              <a:rPr lang="en-US" sz="1875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97,318원 </a:t>
            </a: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비용도 설계 변수로 사용한다</a:t>
            </a:r>
            <a:endParaRPr lang="en-US" sz="1875" dirty="0"/>
          </a:p>
        </p:txBody>
      </p:sp>
      <p:sp>
        <p:nvSpPr>
          <p:cNvPr id="47" name="Text 45"/>
          <p:cNvSpPr/>
          <p:nvPr/>
        </p:nvSpPr>
        <p:spPr>
          <a:xfrm>
            <a:off x="16421249" y="9667875"/>
            <a:ext cx="714939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07 / 08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55489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00100"/>
            <a:ext cx="17602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08 일정과 최종 시연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43000" y="1557338"/>
            <a:ext cx="928732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10월 16일까지의 실행 일정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43000" y="2641600"/>
            <a:ext cx="8443020" cy="9525"/>
          </a:xfrm>
          <a:prstGeom prst="rect">
            <a:avLst/>
          </a:prstGeom>
          <a:solidFill>
            <a:srgbClr val="EEF1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143000" y="2057400"/>
            <a:ext cx="618759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09/01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09900" y="2044700"/>
            <a:ext cx="1391407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계획서 제출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143000" y="3530600"/>
            <a:ext cx="8443020" cy="9525"/>
          </a:xfrm>
          <a:prstGeom prst="rect">
            <a:avLst/>
          </a:prstGeom>
          <a:solidFill>
            <a:srgbClr val="EEF1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43000" y="2946400"/>
            <a:ext cx="799899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09월 초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009900" y="2933700"/>
            <a:ext cx="461108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Cloud 배포, 외부 접속 성립 </a:t>
            </a: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(09-08 고정점)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4419600"/>
            <a:ext cx="8443020" cy="9525"/>
          </a:xfrm>
          <a:prstGeom prst="rect">
            <a:avLst/>
          </a:prstGeom>
          <a:solidFill>
            <a:srgbClr val="EEF1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43000" y="3835400"/>
            <a:ext cx="1030731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09월 중순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009900" y="3822700"/>
            <a:ext cx="411127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2AZ 배치, Monitoring Baseline 관측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143000" y="5308600"/>
            <a:ext cx="8443020" cy="9525"/>
          </a:xfrm>
          <a:prstGeom prst="rect">
            <a:avLst/>
          </a:prstGeom>
          <a:solidFill>
            <a:srgbClr val="EEF1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143000" y="4724400"/>
            <a:ext cx="1261564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09월 중후반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009900" y="4711700"/>
            <a:ext cx="427670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계층 Probe, 하한 Alert, Runbook 배선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143000" y="6197600"/>
            <a:ext cx="8443020" cy="9525"/>
          </a:xfrm>
          <a:prstGeom prst="rect">
            <a:avLst/>
          </a:prstGeom>
          <a:solidFill>
            <a:srgbClr val="EEF1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143000" y="5613400"/>
            <a:ext cx="799899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10월 초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009900" y="5600700"/>
            <a:ext cx="607367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카오스 최종 완주, Backup Restore 시험, 보안 하드닝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143000" y="7086600"/>
            <a:ext cx="8443020" cy="9525"/>
          </a:xfrm>
          <a:prstGeom prst="rect">
            <a:avLst/>
          </a:prstGeom>
          <a:solidFill>
            <a:srgbClr val="EEF1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143000" y="6502400"/>
            <a:ext cx="618759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10/09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009900" y="6489700"/>
            <a:ext cx="3109890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기능 동결, Scorecard 채우기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43000" y="7391400"/>
            <a:ext cx="618759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B96A1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10/16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009900" y="7378700"/>
            <a:ext cx="1134926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최종 발표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0233720" y="1557338"/>
            <a:ext cx="9525" cy="6096000"/>
          </a:xfrm>
          <a:prstGeom prst="rect">
            <a:avLst/>
          </a:prstGeom>
          <a:solidFill>
            <a:srgbClr val="D9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0890945" y="1557338"/>
            <a:ext cx="687946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현재 </a:t>
            </a:r>
            <a:r>
              <a:rPr lang="en-US" sz="1800" dirty="0" err="1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남은</a:t>
            </a: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작</a:t>
            </a:r>
            <a:r>
              <a:rPr lang="ko-KR" alt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업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890945" y="2628900"/>
            <a:ext cx="6254055" cy="9525"/>
          </a:xfrm>
          <a:prstGeom prst="rect">
            <a:avLst/>
          </a:prstGeom>
          <a:solidFill>
            <a:srgbClr val="EEF1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0890945" y="2044700"/>
            <a:ext cx="1221488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Cloud 배포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6787068" y="2057400"/>
            <a:ext cx="399148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B237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0건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10890945" y="3517900"/>
            <a:ext cx="6254055" cy="9525"/>
          </a:xfrm>
          <a:prstGeom prst="rect">
            <a:avLst/>
          </a:prstGeom>
          <a:solidFill>
            <a:srgbClr val="EEF1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0890945" y="2933700"/>
            <a:ext cx="1866601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L3 / L4 / L7 Probe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6787068" y="2946400"/>
            <a:ext cx="399148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B237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0건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10890945" y="4406900"/>
            <a:ext cx="6254055" cy="9525"/>
          </a:xfrm>
          <a:prstGeom prst="rect">
            <a:avLst/>
          </a:prstGeom>
          <a:solidFill>
            <a:srgbClr val="EEF1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10890945" y="3822700"/>
            <a:ext cx="1338508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카오스 최종 완주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6470957" y="3835400"/>
            <a:ext cx="796693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실행 전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10890945" y="5295900"/>
            <a:ext cx="6254055" cy="9525"/>
          </a:xfrm>
          <a:prstGeom prst="rect">
            <a:avLst/>
          </a:prstGeom>
          <a:solidFill>
            <a:srgbClr val="EEF1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10890945" y="4711700"/>
            <a:ext cx="714939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DB HA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5530215" y="4724400"/>
            <a:ext cx="1832233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B237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미성립, 승격 수동</a:t>
            </a: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0890945" y="5600700"/>
            <a:ext cx="1658596" cy="3590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Backup Restore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16527587" y="5613400"/>
            <a:ext cx="743793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미검증</a:t>
            </a: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0890945" y="6604000"/>
            <a:ext cx="6441677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76"/>
              </a:lnSpc>
              <a:buNone/>
            </a:pPr>
            <a:r>
              <a:rPr lang="en-US" sz="1800" dirty="0">
                <a:solidFill>
                  <a:srgbClr val="3C46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Cloud 배포와 계층 Probe가 풀리면 대표 Runbook의 BLOCKED 단계 일곱 개도 함께 풀린다.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143000" y="8734425"/>
            <a:ext cx="16002000" cy="9525"/>
          </a:xfrm>
          <a:prstGeom prst="rect">
            <a:avLst/>
          </a:prstGeom>
          <a:solidFill>
            <a:srgbClr val="D9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1143000" y="8996363"/>
            <a:ext cx="1130118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최종 Demo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2418011" y="8991600"/>
            <a:ext cx="512961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정상</a:t>
            </a: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2972544" y="8991600"/>
            <a:ext cx="259686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3332857" y="8991600"/>
            <a:ext cx="1027525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장애 주입</a:t>
            </a: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355604" y="8991600"/>
            <a:ext cx="259686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715917" y="8991600"/>
            <a:ext cx="531428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Alert</a:t>
            </a: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399484" y="8991600"/>
            <a:ext cx="259686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759797" y="8991600"/>
            <a:ext cx="1027525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계층 판별</a:t>
            </a: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782544" y="8991600"/>
            <a:ext cx="259686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7142857" y="8991600"/>
            <a:ext cx="908903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Runbook</a:t>
            </a: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8263012" y="8991600"/>
            <a:ext cx="259686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8623325" y="8991600"/>
            <a:ext cx="512961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복구</a:t>
            </a: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9177858" y="8991600"/>
            <a:ext cx="259686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9538171" y="8991600"/>
            <a:ext cx="1661480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Transaction 검증</a:t>
            </a: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11453217" y="8991600"/>
            <a:ext cx="259686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11813530" y="8991600"/>
            <a:ext cx="1208664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B243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Ledger 검증</a:t>
            </a: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13199715" y="8991600"/>
            <a:ext cx="259686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→</a:t>
            </a: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13560028" y="8991600"/>
            <a:ext cx="985719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B96A1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Scorecard</a:t>
            </a: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1143000" y="9467850"/>
            <a:ext cx="17602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3C465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평가 기준은 복구했는가가 아니다. 어디가 문제였고, 얼마나 빨리 되돌렸고, 데이터가 정상임을 증명했는가다.</a:t>
            </a: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16404282" y="9667875"/>
            <a:ext cx="714939" cy="3282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8818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08 / 08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85168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964F1AD-8777-47B0-AD90-7879F2764CBD}">
  <we:reference id="11d7cf85-ae5a-43b8-bc58-1e1a151cce24" version="1.0.0.1" store="EXCatalog" storeType="EXCatalog"/>
  <we:alternateReferences>
    <we:reference id="WA200010725" version="1.0.0.1" store="ko-KR" storeType="OMEX"/>
  </we:alternateReferences>
  <we:properties>
    <we:property name="claude.fileId" value="&quot;68173102-c2d0-42a8-9f19-07d9926206c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1220</Words>
  <Application>Microsoft Office PowerPoint</Application>
  <PresentationFormat>사용자 지정</PresentationFormat>
  <Paragraphs>263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Pretendard Variable</vt:lpstr>
      <vt:lpstr>Arial</vt:lpstr>
      <vt:lpstr>IBM Plex Mono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이 상혁</cp:lastModifiedBy>
  <cp:revision>2</cp:revision>
  <dcterms:created xsi:type="dcterms:W3CDTF">2026-08-31T15:07:57Z</dcterms:created>
  <dcterms:modified xsi:type="dcterms:W3CDTF">2026-08-31T15:22:37Z</dcterms:modified>
</cp:coreProperties>
</file>